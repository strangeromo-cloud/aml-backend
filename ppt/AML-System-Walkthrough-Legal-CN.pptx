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377440"/>
            <a:ext cx="5943600" cy="5943600"/>
          </a:xfrm>
          <a:prstGeom prst="ellipse">
            <a:avLst/>
          </a:prstGeom>
          <a:solidFill>
            <a:srgbClr val="1BA39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2560320"/>
            <a:ext cx="4572000" cy="4572000"/>
          </a:xfrm>
          <a:prstGeom prst="ellipse">
            <a:avLst/>
          </a:prstGeom>
          <a:solidFill>
            <a:srgbClr val="1BA39C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39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1005840"/>
          </a:xfrm>
          <a:prstGeom prst="rect">
            <a:avLst>
              <a:gd name="adj" fmla="val 18182"/>
            </a:avLst>
          </a:prstGeom>
          <a:solidFill>
            <a:srgbClr val="1BA39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付款风险识别系统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41248" y="36393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从「整体评分」到「分级告警 + 自我进化」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面向法务团队的系统讲解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我们面对的现实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海量付款里，找极少数的洗钱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 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笔付款 / 每天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全年约 365 万笔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起真实洗钱 / 每年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阳性率约 1/40 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66176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84464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高精度规则命中后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确实是洗钱 (PPV)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84464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行业稀缺优势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02C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做不到、也无法验证「识别所有洗钱」（一年凑不出 10 个样本，传统机器学习不可行）。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目标改为：让法务每天能审的有限数量，做到含金量最高。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产品形态的核心转变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从「算一个总分」到「分级告警」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原有逻辑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整体加权评分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供应商分 × 40% + 付款分 × 35% + 合理性 × 25%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算一个 0–100 总分，按高/中/低排序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224528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强信号被「平均」稀释：一笔哪怕只命中 1 条 30% 命中率硬规则的付款，被其它正常维度一平均就沉底、可能没人看。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611880"/>
            <a:ext cx="566928" cy="566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65392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102C3A"/>
          </a:solidFill>
          <a:ln/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85432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新形态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85432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 (Tier)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85432" y="2926080"/>
            <a:ext cx="868680" cy="502920"/>
          </a:xfrm>
          <a:prstGeom prst="rect">
            <a:avLst>
              <a:gd name="adj" fmla="val 14545"/>
            </a:avLst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82128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 · 24 小时内复核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85432" y="3566160"/>
            <a:ext cx="868680" cy="502920"/>
          </a:xfrm>
          <a:prstGeom prst="rect">
            <a:avLst>
              <a:gd name="adj" fmla="val 14545"/>
            </a:avLst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82128" y="3566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· 3 天内复核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85432" y="4206240"/>
            <a:ext cx="868680" cy="502920"/>
          </a:xfrm>
          <a:prstGeom prst="rect">
            <a:avLst>
              <a:gd name="adj" fmla="val 14545"/>
            </a:avLst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882128" y="4206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· 批量排序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85432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2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复用原有评分逻辑。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52120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强信号「跳出」平均池，命中即定级、直接置顶。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分级规则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分级逻辑：命中任意一条高精度规则即 T1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9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付款级硬规则（入口 A）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100% 的确定性校验 —— 单条命中即高置信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营业地国家不一致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付款方 / 发票来源国不一致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主营业务 ≠ 采购品类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虚假发票特征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5650992" cy="1005840"/>
          </a:xfrm>
          <a:prstGeom prst="roundRect">
            <a:avLst>
              <a:gd name="adj" fmla="val 1090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057400"/>
            <a:ext cx="914400" cy="548640"/>
          </a:xfrm>
          <a:prstGeom prst="rect">
            <a:avLst>
              <a:gd name="adj" fmla="val 13333"/>
            </a:avLst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60920" y="19751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命中任意 1 条高精度规则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23591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 · 24 小时内复核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017520"/>
            <a:ext cx="5650992" cy="1005840"/>
          </a:xfrm>
          <a:prstGeom prst="roundRect">
            <a:avLst>
              <a:gd name="adj" fmla="val 1090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246120"/>
            <a:ext cx="914400" cy="548640"/>
          </a:xfrm>
          <a:prstGeom prst="rect">
            <a:avLst>
              <a:gd name="adj" fmla="val 13333"/>
            </a:avLst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316382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仅命中供应商级信号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3547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· 3 天内复核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4206240"/>
            <a:ext cx="5650992" cy="1005840"/>
          </a:xfrm>
          <a:prstGeom prst="roundRect">
            <a:avLst>
              <a:gd name="adj" fmla="val 1090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4434840"/>
            <a:ext cx="914400" cy="548640"/>
          </a:xfrm>
          <a:prstGeom prst="rect">
            <a:avLst>
              <a:gd name="adj" fmla="val 13333"/>
            </a:avLst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60920" y="43525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 / 行为均未命中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0920" y="47365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· 批量排序（复用原有逻辑）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102C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为何如此从严：</a:t>
            </a:r>
            <a:pPr indent="0" marL="0">
              <a:buNone/>
            </a:pPr>
            <a:r>
              <a:rPr lang="en-US" sz="12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这四条是准确率 100% 的确定性校验，单条命中即高置信 → 直接 T1。仅命中供应商级行为信号（拆分 / 突增 / 多次命中）→ T2。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怎么发现 · 怎么运转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两个入口，一个越用越准的闭环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A · 付款级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单笔命中硬规则：国家不一致、虚假发票、业务 ≠ 品类…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011680"/>
            <a:ext cx="548640" cy="548640"/>
          </a:xfrm>
          <a:prstGeom prst="ellipse">
            <a:avLst/>
          </a:prstGeom>
          <a:solidFill>
            <a:srgbClr val="C986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B · 供应商级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聚合多笔才看得出：拆分付款、付款突增、多次命中…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3310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两入口合并成法务的一份统一告警清单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+ 定级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416052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33756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52044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4160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416052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2648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16052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法务裁决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224" y="4160520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91540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909828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16052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4692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4FAFB"/>
          </a:solidFill>
          <a:ln w="15240">
            <a:solidFill>
              <a:srgbClr val="1BA39C"/>
            </a:solidFill>
            <a:prstDash val="dash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12080"/>
            <a:ext cx="411480" cy="4114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17320" y="5029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回流校准：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法务每一次复核都被结构化沉淀，反过来校准「该看谁、多急」—— 系统越用越准。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一笔付款在系统中的流转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订单流入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万 / 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8600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+ 分层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双入口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40680" y="1481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/ T2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生成证据包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洗钱？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10928" y="182880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6648" y="18288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进化与学习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 · 发现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74920" y="29077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8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34290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批量评分排序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3252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796528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/ 否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34290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记录结论 → 学习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2468" y="2743200"/>
            <a:ext cx="0" cy="159105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70948" y="433425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0948" y="433425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≥ 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PPV 达标？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0948" y="4937760"/>
            <a:ext cx="-26974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601200" y="45537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461772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2668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继续观察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698480" y="53949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602468" y="5541264"/>
            <a:ext cx="0" cy="448056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131820" y="5989320"/>
            <a:ext cx="7470648" cy="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131820" y="2743200"/>
            <a:ext cx="0" cy="324612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  <a:headEnd type="triangle"/>
          </a:ln>
        </p:spPr>
      </p:sp>
      <p:sp>
        <p:nvSpPr>
          <p:cNvPr id="41" name="Text 39"/>
          <p:cNvSpPr/>
          <p:nvPr/>
        </p:nvSpPr>
        <p:spPr>
          <a:xfrm>
            <a:off x="3383280" y="5596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新信号转正 / 调整分层  </a:t>
            </a:r>
            <a:pPr indent="0" marL="0">
              <a:buNone/>
            </a:pPr>
            <a:r>
              <a:rPr lang="en-US" sz="11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受统计校准 + 人工审批把关。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三个核心创新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从「静态规则」走向「会进化的助手」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7004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34640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FE0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 Agent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86968" y="4069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自动多源取证（企查查 / 天眼查 / Dow Jones），把每件调查从 1 小时压到几分钟；人做最终判断。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67004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1968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FE0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636008" y="35204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54296" y="4069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从已确认案例中发现规则集里还没有的新信号 —— 但只能进「候选」，须校准 + 审批才生效。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3336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670048"/>
            <a:ext cx="466344" cy="4663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369296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FE0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403336" y="35204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信号台账 + 校准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21624" y="4069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每个信号靠真实命中率自动升级 / 降级，不靠拍脑袋；所有变更可审计。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重点创新 · 自我进化（Hermes Agent）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系统自己「发现」新风险，但分级仍需把关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过去信号全靠法务凭经验预先定义；现在 Agent 从积累的案例中主动提出新假设。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1BA3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87168"/>
            <a:ext cx="640080" cy="6400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发现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学出反复出现的新模式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30632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2487168"/>
            <a:ext cx="640080" cy="640080"/>
          </a:xfrm>
          <a:prstGeom prst="ellipse">
            <a:avLst/>
          </a:prstGeom>
          <a:solidFill>
            <a:srgbClr val="C9861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6151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进入候选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44728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标记待验证、先观察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063240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5D8AA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040880" y="2487168"/>
            <a:ext cx="640080" cy="640080"/>
          </a:xfrm>
          <a:prstGeom prst="ellipse">
            <a:avLst/>
          </a:prstGeom>
          <a:solidFill>
            <a:srgbClr val="5D8AA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6151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统计校准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23620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用真实命中率验证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3063240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1540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22875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829800" y="2487168"/>
            <a:ext cx="640080" cy="640080"/>
          </a:xfrm>
          <a:prstGeom prst="ellipse">
            <a:avLst/>
          </a:prstGeom>
          <a:solidFill>
            <a:srgbClr val="22875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615184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902512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委员会签字才生效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6E8"/>
          </a:solidFill>
          <a:ln w="15240">
            <a:solidFill>
              <a:srgbClr val="F0D8A8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864608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46177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986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合规底线：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自我进化只能「发现假设」，绝不能黑盒改告警等级。任何影响分级的变更，都必须经过可审计的统计校准 + 人工审批。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1BA39C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把高价值告警顶上来，让系统越用越准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分级告警替代整体评分（强信号不再被稀释），双入口覆盖单笔与跨笔手法，AI 调查提效，自我进化发现新风险 —— 所有分级变更都在「统计校准 + 人工审批」的可审计闸门内。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对法务团队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95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一份排好序的清单，不再大海捞针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959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5624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每笔都附「为什么」，便于解释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994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· 可审计，经得起监管追问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59943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5624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你的每次复核都在让系统更准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77240" y="544068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后续对接：</a:t>
            </a:r>
            <a:pPr indent="0" marL="0">
              <a:buNone/>
            </a:pPr>
            <a:r>
              <a:rPr lang="en-US" sz="12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真实数据源（企查查 / 天眼查 / Dow Jones）· 部署 Hermes Agent 框架 · 接入付款系统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原型演示 · 公司付款数据为合成数据，外部数据源 / Hermes 框架 / 付款冻结为待对接项。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付款风险识别系统 · 法务版</dc:title>
  <dc:subject>PptxGenJS Presentation</dc:subject>
  <dc:creator>PptxGenJS</dc:creator>
  <cp:lastModifiedBy>PptxGenJS</cp:lastModifiedBy>
  <cp:revision>1</cp:revision>
  <dcterms:created xsi:type="dcterms:W3CDTF">2026-06-03T06:37:45Z</dcterms:created>
  <dcterms:modified xsi:type="dcterms:W3CDTF">2026-06-03T06:37:45Z</dcterms:modified>
</cp:coreProperties>
</file>