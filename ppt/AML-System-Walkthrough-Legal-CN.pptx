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4095" y="-2377440"/>
            <a:ext cx="5943600" cy="5943600"/>
          </a:xfrm>
          <a:prstGeom prst="ellipse">
            <a:avLst/>
          </a:prstGeom>
          <a:solidFill>
            <a:srgbClr val="1BA39C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97135" y="2560320"/>
            <a:ext cx="4572000" cy="4572000"/>
          </a:xfrm>
          <a:prstGeom prst="ellipse">
            <a:avLst/>
          </a:prstGeom>
          <a:solidFill>
            <a:srgbClr val="1BA39C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BA39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1005840"/>
          </a:xfrm>
          <a:prstGeom prst="rect">
            <a:avLst>
              <a:gd name="adj" fmla="val 18182"/>
            </a:avLst>
          </a:prstGeom>
          <a:solidFill>
            <a:srgbClr val="1BA39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付款风险识别系统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41248" y="36393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从「整体评分」到「分级告警 + 自我进化」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41248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面向法务团队的系统讲解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我们面对的现实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海量付款里，找极少数的洗钱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 万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49808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笔付款 / 每天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全年约 365 万笔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98848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起真实洗钱 / 每年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17136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阳性率约 1/40 万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74720" cy="1965960"/>
          </a:xfrm>
          <a:prstGeom prst="roundRect">
            <a:avLst>
              <a:gd name="adj" fmla="val 5581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66176" y="20116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284464" y="2852928"/>
            <a:ext cx="3154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高精度规则命中后</a:t>
            </a:r>
            <a:endParaRPr lang="en-US" sz="13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确实是洗钱 (PPV)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3438144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行业稀缺优势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7500"/>
            </a:avLst>
          </a:prstGeom>
          <a:solidFill>
            <a:srgbClr val="102C3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159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68172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做不到、也无法验证「识别所有洗钱」（一年凑不出 10 个样本，传统机器学习不可行）。</a:t>
            </a:r>
            <a:endParaRPr lang="en-US" sz="14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目标改为：让法务每天能审的有限数量，做到含金量最高。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产品形态的核心转变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从「算一个总分」到「分级告警」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原有逻辑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整体加权评分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供应商分 × 40% + 付款分 × 35% + 合理性 × 25%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算一个 0–100 总分，按高/中/低排序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4224528"/>
            <a:ext cx="45720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强信号被「平均」稀释：一笔哪怕只命中 1 条 30% 命中率硬规则的付款，被其它正常维度一平均就沉底、可能没人看。</a:t>
            </a:r>
            <a:endParaRPr lang="en-US" sz="12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3611880"/>
            <a:ext cx="566928" cy="5669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565392" y="1828800"/>
            <a:ext cx="5074920" cy="4023360"/>
          </a:xfrm>
          <a:prstGeom prst="roundRect">
            <a:avLst>
              <a:gd name="adj" fmla="val 2727"/>
            </a:avLst>
          </a:prstGeom>
          <a:solidFill>
            <a:srgbClr val="102C3A"/>
          </a:solidFill>
          <a:ln/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85432" y="20116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新形态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885432" y="23774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 (Tier)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85432" y="2926080"/>
            <a:ext cx="868680" cy="502920"/>
          </a:xfrm>
          <a:prstGeom prst="rect">
            <a:avLst>
              <a:gd name="adj" fmla="val 14545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882128" y="292608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 · 24 小时内复核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885432" y="3566160"/>
            <a:ext cx="868680" cy="502920"/>
          </a:xfrm>
          <a:prstGeom prst="rect">
            <a:avLst>
              <a:gd name="adj" fmla="val 14545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882128" y="356616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· 3 天内复核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885432" y="4206240"/>
            <a:ext cx="868680" cy="502920"/>
          </a:xfrm>
          <a:prstGeom prst="rect">
            <a:avLst>
              <a:gd name="adj" fmla="val 14545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7882128" y="4206240"/>
            <a:ext cx="3703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DEB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 · 批量排序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85432" y="4892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2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复用原有评分逻辑。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85432" y="521208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37B7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强信号「跳出」平均池，命中即定级、直接置顶。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分级规则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三个等级：逐级说明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868680" cy="566928"/>
          </a:xfrm>
          <a:prstGeom prst="rect">
            <a:avLst>
              <a:gd name="adj" fmla="val 12903"/>
            </a:avLst>
          </a:prstGeom>
          <a:solidFill>
            <a:srgbClr val="D84B4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紧急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28800" y="2487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小时内复核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命中任意 1 条高精度规则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3611880"/>
            <a:ext cx="285292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/ 营业地国家不一致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付款方 / 发票来源国不一致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主营业务 ≠ 采购品类</a:t>
            </a:r>
            <a:endParaRPr lang="en-US" sz="120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虚假发票特征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983480"/>
            <a:ext cx="2962656" cy="868680"/>
          </a:xfrm>
          <a:prstGeom prst="roundRect">
            <a:avLst>
              <a:gd name="adj" fmla="val 10526"/>
            </a:avLst>
          </a:prstGeom>
          <a:solidFill>
            <a:srgbClr val="FBEEEE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5029200"/>
            <a:ext cx="26883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为何直接 T1：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 100% 的确定性校验，单条命中即高置信。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38828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13148" y="2103120"/>
            <a:ext cx="868680" cy="566928"/>
          </a:xfrm>
          <a:prstGeom prst="rect">
            <a:avLst>
              <a:gd name="adj" fmla="val 12903"/>
            </a:avLst>
          </a:prstGeom>
          <a:solidFill>
            <a:srgbClr val="C9861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618988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18988" y="2487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天内复核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3148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3148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仅命中供应商级信号（无硬规则命中）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13148" y="3611880"/>
            <a:ext cx="29626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命中以下任一供应商级行为信号：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22876" y="4023360"/>
            <a:ext cx="2852928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拆分付款（化整为零）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付款突增（新供应商）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高精度规则多次命中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129016" y="1828800"/>
            <a:ext cx="3511296" cy="4160520"/>
          </a:xfrm>
          <a:prstGeom prst="roundRect">
            <a:avLst>
              <a:gd name="adj" fmla="val 364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03336" y="2103120"/>
            <a:ext cx="868680" cy="566928"/>
          </a:xfrm>
          <a:prstGeom prst="rect">
            <a:avLst>
              <a:gd name="adj" fmla="val 12903"/>
            </a:avLst>
          </a:prstGeom>
          <a:solidFill>
            <a:srgbClr val="5D8AA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09176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09176" y="2487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批量排序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403336" y="2880360"/>
            <a:ext cx="2962656" cy="0"/>
          </a:xfrm>
          <a:prstGeom prst="line">
            <a:avLst/>
          </a:prstGeom>
          <a:noFill/>
          <a:ln w="12700">
            <a:solidFill>
              <a:srgbClr val="DCE8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03336" y="2980944"/>
            <a:ext cx="29626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 / 行为均未命中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403336" y="3611880"/>
            <a:ext cx="2962656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回落到原有加权评分（供应商分 / 付款分 / 合理性），批量排序后取 Top K 复核。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怎么发现 · 怎么运转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两个入口，一个越用越准的闭环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548640" cy="54864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214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A · 付款级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单笔命中硬规则：国家不一致、虚假发票、业务 ≠ 品类…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40680" cy="1463040"/>
          </a:xfrm>
          <a:prstGeom prst="roundRect">
            <a:avLst>
              <a:gd name="adj" fmla="val 75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11680"/>
            <a:ext cx="548640" cy="54864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214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9339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 B · 供应商级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92240" y="25786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聚合多笔才看得出：拆分付款、付款突增、多次命中…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48640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两入口合并成法务的一份统一告警清单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定级</a:t>
            </a:r>
            <a:endParaRPr lang="en-US" sz="13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384" y="4160520"/>
            <a:ext cx="237744" cy="237744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33756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52044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41605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1304" y="4160520"/>
            <a:ext cx="237744" cy="237744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2648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630936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416052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685800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法务裁决</a:t>
            </a:r>
            <a:endParaRPr lang="en-US" sz="13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0224" y="4160520"/>
            <a:ext cx="237744" cy="237744"/>
          </a:xfrm>
          <a:prstGeom prst="rect">
            <a:avLst/>
          </a:prstGeom>
        </p:spPr>
      </p:pic>
      <p:sp>
        <p:nvSpPr>
          <p:cNvPr id="30" name="Shape 20"/>
          <p:cNvSpPr/>
          <p:nvPr/>
        </p:nvSpPr>
        <p:spPr>
          <a:xfrm>
            <a:off x="8915400" y="384048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098280" y="4069080"/>
            <a:ext cx="457200" cy="457200"/>
          </a:xfrm>
          <a:prstGeom prst="ellipse">
            <a:avLst/>
          </a:prstGeom>
          <a:solidFill>
            <a:srgbClr val="F4FAFB"/>
          </a:solidFill>
          <a:ln w="16510">
            <a:solidFill>
              <a:srgbClr val="1BA39C"/>
            </a:solidFill>
            <a:prstDash val="solid"/>
          </a:ln>
        </p:spPr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160520"/>
            <a:ext cx="274320" cy="274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9646920" y="384048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持续学习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4FAFB"/>
          </a:solidFill>
          <a:ln w="15240">
            <a:solidFill>
              <a:srgbClr val="1BA39C"/>
            </a:solidFill>
            <a:prstDash val="dash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960" y="5212080"/>
            <a:ext cx="411480" cy="411480"/>
          </a:xfrm>
          <a:prstGeom prst="rect">
            <a:avLst/>
          </a:prstGeom>
        </p:spPr>
      </p:pic>
      <p:sp>
        <p:nvSpPr>
          <p:cNvPr id="36" name="Text 24"/>
          <p:cNvSpPr/>
          <p:nvPr/>
        </p:nvSpPr>
        <p:spPr>
          <a:xfrm>
            <a:off x="1417320" y="50292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回流校准：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法务每一次复核都被结构化沉淀，反过来校准「该看谁、多急」—— 系统越用越准。</a:t>
            </a:r>
            <a:endParaRPr lang="en-US" sz="1350" dirty="0"/>
          </a:p>
        </p:txBody>
      </p:sp>
      <p:sp>
        <p:nvSpPr>
          <p:cNvPr id="37" name="Text 25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2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一笔付款在系统中的流转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288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订单流入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 万 / 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1168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8600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33172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 + 分层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双入口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9776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等级？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2286000"/>
            <a:ext cx="274320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440680" y="148132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4B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/ T2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82880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828800"/>
            <a:ext cx="1600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生成证据包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8096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001000" y="168249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1000" y="168249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是否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洗钱？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4688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710928" y="1828800"/>
            <a:ext cx="1783080" cy="914400"/>
          </a:xfrm>
          <a:prstGeom prst="roundRect">
            <a:avLst>
              <a:gd name="adj" fmla="val 10000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828800"/>
            <a:ext cx="1691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进化与学习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 · 发现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074920" y="290779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D8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429000"/>
            <a:ext cx="182880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批量评分排序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732520" y="2889504"/>
            <a:ext cx="0" cy="53949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8796528" y="290779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 / 否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772400" y="3429000"/>
            <a:ext cx="1920240" cy="685800"/>
          </a:xfrm>
          <a:prstGeom prst="roundRect">
            <a:avLst>
              <a:gd name="adj" fmla="val 13333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18120" y="342900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记录结论 → 学习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2468" y="2743200"/>
            <a:ext cx="0" cy="1591056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70948" y="4334256"/>
            <a:ext cx="1463040" cy="1207008"/>
          </a:xfrm>
          <a:prstGeom prst="diamond">
            <a:avLst/>
          </a:prstGeom>
          <a:solidFill>
            <a:srgbClr val="FFF6E8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70948" y="4334256"/>
            <a:ext cx="146304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 ≥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A61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 PPV 达标？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870948" y="4937760"/>
            <a:ext cx="-269748" cy="0"/>
          </a:xfrm>
          <a:prstGeom prst="line">
            <a:avLst/>
          </a:prstGeom>
          <a:noFill/>
          <a:ln w="22225">
            <a:solidFill>
              <a:srgbClr val="9FB6C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9601200" y="455371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680960" y="4617720"/>
            <a:ext cx="1920240" cy="640080"/>
          </a:xfrm>
          <a:prstGeom prst="roundRect">
            <a:avLst>
              <a:gd name="adj" fmla="val 14286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26680" y="46177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继续观察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698480" y="5394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87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0602468" y="5541264"/>
            <a:ext cx="0" cy="448056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131820" y="5989320"/>
            <a:ext cx="7470648" cy="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3131820" y="2743200"/>
            <a:ext cx="0" cy="3246120"/>
          </a:xfrm>
          <a:prstGeom prst="line">
            <a:avLst/>
          </a:prstGeom>
          <a:noFill/>
          <a:ln w="21590">
            <a:solidFill>
              <a:srgbClr val="1BA39C"/>
            </a:solidFill>
            <a:prstDash val="dash"/>
            <a:headEnd type="triangle"/>
          </a:ln>
        </p:spPr>
      </p:sp>
      <p:sp>
        <p:nvSpPr>
          <p:cNvPr id="41" name="Text 39"/>
          <p:cNvSpPr/>
          <p:nvPr/>
        </p:nvSpPr>
        <p:spPr>
          <a:xfrm>
            <a:off x="3383280" y="55961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新信号转正 / 调整分层  </a:t>
            </a:r>
            <a:pPr indent="0" marL="0">
              <a:buNone/>
            </a:pPr>
            <a:r>
              <a:rPr lang="en-US" sz="11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受统计校准 + 人工审批把关。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三个核心创新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从「静态规则」走向「会进化的助手」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670048"/>
            <a:ext cx="466344" cy="466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34640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68680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调查 Agent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自动多源取证（企查查 / 天眼查 / Dow Jones），把每件调查从 1 小时压到几分钟；人做最终判断。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36008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67004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01968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54296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从已确认案例中发现规则集里还没有的新信号 —— 但只能进「候选」，须校准 + 审批才生效。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83296" y="2148840"/>
            <a:ext cx="3474720" cy="3383280"/>
          </a:xfrm>
          <a:prstGeom prst="roundRect">
            <a:avLst>
              <a:gd name="adj" fmla="val 3784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  <a:effectLst>
            <a:outerShdw sx="100000" sy="100000" kx="0" ky="0" algn="bl" rotWithShape="0" blurRad="114300" dist="38100" dir="8100000">
              <a:srgbClr val="0B1F2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03336" y="2468880"/>
            <a:ext cx="868680" cy="8686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670048"/>
            <a:ext cx="466344" cy="4663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369296" y="24231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CFE0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8403336" y="35204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信号台账 + 校准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21624" y="406908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每个信号靠真实命中率自动升级 / 降级，不靠拍脑袋；所有变更可审计。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重点创新 · 自我进化（Hermes Agent）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系统自己「发现」新风险，但分级仍需把关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过去信号全靠法务凭经验预先定义；现在 Agent 从积累的案例中主动提出新假设。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1BA3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487168"/>
            <a:ext cx="640080" cy="640080"/>
          </a:xfrm>
          <a:prstGeom prst="ellipse">
            <a:avLst/>
          </a:prstGeom>
          <a:solidFill>
            <a:srgbClr val="1BA39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61518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发现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5836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学出反复出现的新模式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3063240"/>
            <a:ext cx="292608" cy="29260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3756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C986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251960" y="2487168"/>
            <a:ext cx="640080" cy="640080"/>
          </a:xfrm>
          <a:prstGeom prst="ellipse">
            <a:avLst/>
          </a:prstGeom>
          <a:solidFill>
            <a:srgbClr val="C9861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615184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进入候选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44728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标记待验证、先观察</a:t>
            </a:r>
            <a:endParaRPr lang="en-US" sz="11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3063240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12648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5D8AA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040880" y="2487168"/>
            <a:ext cx="640080" cy="640080"/>
          </a:xfrm>
          <a:prstGeom prst="ellipse">
            <a:avLst/>
          </a:prstGeom>
          <a:solidFill>
            <a:srgbClr val="5D8AA8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2615184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21792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统计校准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623620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用真实命中率验证</a:t>
            </a:r>
            <a:endParaRPr lang="en-US" sz="115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936" y="3063240"/>
            <a:ext cx="292608" cy="29260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8915400" y="228600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4FAFB"/>
          </a:solidFill>
          <a:ln w="19050">
            <a:solidFill>
              <a:srgbClr val="22875A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9829800" y="2487168"/>
            <a:ext cx="640080" cy="640080"/>
          </a:xfrm>
          <a:prstGeom prst="ellipse">
            <a:avLst/>
          </a:prstGeom>
          <a:solidFill>
            <a:srgbClr val="22875A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615184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9006840" y="3200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</a:t>
            </a:r>
            <a:endParaRPr lang="en-US" sz="1450" dirty="0"/>
          </a:p>
        </p:txBody>
      </p:sp>
      <p:sp>
        <p:nvSpPr>
          <p:cNvPr id="27" name="Text 18"/>
          <p:cNvSpPr/>
          <p:nvPr/>
        </p:nvSpPr>
        <p:spPr>
          <a:xfrm>
            <a:off x="9025128" y="3639312"/>
            <a:ext cx="2249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委员会签字才生效</a:t>
            </a:r>
            <a:endParaRPr lang="en-US" sz="1150" dirty="0"/>
          </a:p>
        </p:txBody>
      </p:sp>
      <p:sp>
        <p:nvSpPr>
          <p:cNvPr id="28" name="Shape 19"/>
          <p:cNvSpPr/>
          <p:nvPr/>
        </p:nvSpPr>
        <p:spPr>
          <a:xfrm>
            <a:off x="548640" y="452628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6E8"/>
          </a:solidFill>
          <a:ln w="15240">
            <a:solidFill>
              <a:srgbClr val="F0D8A8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864608"/>
            <a:ext cx="457200" cy="45720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508760" y="4617720"/>
            <a:ext cx="9921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986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合规底线：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自我进化只能「发现假设」，绝不能黑盒改告警等级。任何影响分级的变更，都必须经过可审计的统计校准 + 人工审批。</a:t>
            </a:r>
            <a:endParaRPr lang="en-US" sz="13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32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AML 付款风险识别系统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206240"/>
            <a:ext cx="5486400" cy="5486400"/>
          </a:xfrm>
          <a:prstGeom prst="ellipse">
            <a:avLst/>
          </a:prstGeom>
          <a:solidFill>
            <a:srgbClr val="1BA39C">
              <a:alpha val="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把高价值告警顶上来，让系统越用越准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0116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分级告警替代整体评分（强信号不再被稀释），双入口覆盖单笔与跨笔手法，AI 调查提效，自我进化发现新风险 —— 所有分级变更都在「统计校准 + 人工审批」的可审计闸门内。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对法务团队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9592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一份排好序的清单，不再大海捞针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9959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56248" y="39319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每笔都附「为什么」，便于解释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99432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268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 · 可审计，经得起监管追问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599432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56248" y="4535424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你的每次复核都在让系统更准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6129"/>
            </a:avLst>
          </a:prstGeom>
          <a:solidFill>
            <a:srgbClr val="F4FAFB"/>
          </a:solidFill>
          <a:ln w="12700">
            <a:solidFill>
              <a:srgbClr val="DCE8EE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777240" y="5440680"/>
            <a:ext cx="10698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A3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后续对接：</a:t>
            </a:r>
            <a:pPr indent="0" marL="0">
              <a:buNone/>
            </a:pPr>
            <a:r>
              <a:rPr lang="en-US" sz="1200" dirty="0">
                <a:solidFill>
                  <a:srgbClr val="1731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真实数据源（企查查 / 天眼查 / Dow Jones）· 部署 Hermes Agent 框架 · 接入付款系统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3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原型演示 · 公司付款数据为合成数据，外部数据源 / Hermes 框架 / 付款冻结为待对接项。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AML 付款风险识别系统 · 法务版</dc:title>
  <dc:subject>PptxGenJS Presentation</dc:subject>
  <dc:creator>PptxGenJS</dc:creator>
  <cp:lastModifiedBy>PptxGenJS</cp:lastModifiedBy>
  <cp:revision>1</cp:revision>
  <dcterms:created xsi:type="dcterms:W3CDTF">2026-06-03T06:52:57Z</dcterms:created>
  <dcterms:modified xsi:type="dcterms:W3CDTF">2026-06-03T06:52:57Z</dcterms:modified>
</cp:coreProperties>
</file>