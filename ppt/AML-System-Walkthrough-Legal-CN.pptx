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095" y="-2377440"/>
            <a:ext cx="5943600" cy="5943600"/>
          </a:xfrm>
          <a:prstGeom prst="ellipse">
            <a:avLst/>
          </a:prstGeom>
          <a:solidFill>
            <a:srgbClr val="1BA39C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997135" y="2560320"/>
            <a:ext cx="4572000" cy="4572000"/>
          </a:xfrm>
          <a:prstGeom prst="ellipse">
            <a:avLst/>
          </a:prstGeom>
          <a:solidFill>
            <a:srgbClr val="1BA39C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A39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2194560" cy="1005840"/>
          </a:xfrm>
          <a:prstGeom prst="rect">
            <a:avLst>
              <a:gd name="adj" fmla="val 18182"/>
            </a:avLst>
          </a:prstGeom>
          <a:solidFill>
            <a:srgbClr val="1BA39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付款风险识别系统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41248" y="363931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从「整体评分」到「分级告警 + 自我进化」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41248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面向法务团队的系统讲解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我们面对的现实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海量付款里，找极少数的洗钱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1 万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49808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笔付款 / 每天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全年约 365 万笔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5968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98848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84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10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17136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起真实洗钱 / 每年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17136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阳性率约 1/40 万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83296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66176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287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30%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284464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高精度规则命中后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确实是洗钱 (PPV)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84464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行业稀缺优势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11091672" cy="1463040"/>
          </a:xfrm>
          <a:prstGeom prst="roundRect">
            <a:avLst>
              <a:gd name="adj" fmla="val 7500"/>
            </a:avLst>
          </a:prstGeom>
          <a:solidFill>
            <a:srgbClr val="102C3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3159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468172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做不到、也无法验证「识别所有洗钱」（一年凑不出 10 个样本，传统机器学习不可行）。</a:t>
            </a:r>
            <a:endParaRPr lang="en-US" sz="14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目标改为：让法务每天能审的有限数量，做到含金量最高。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产品形态的核心转变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从「算一个总分」到「分级告警」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074920" cy="4023360"/>
          </a:xfrm>
          <a:prstGeom prst="roundRect">
            <a:avLst>
              <a:gd name="adj" fmla="val 2727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原有逻辑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整体加权评分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供应商分 × 40% + 付款分 × 35% + 合理性 × 25%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算一个 0–100 总分，按高/中/低排序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3931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84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6968" y="4224528"/>
            <a:ext cx="45720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强信号被「平均」稀释：一笔命中 2 条 30% 命中率硬规则的付款，被其它正常维度一平均就沉底、可能没人看。</a:t>
            </a:r>
            <a:endParaRPr lang="en-US" sz="12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3611880"/>
            <a:ext cx="566928" cy="56692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565392" y="1828800"/>
            <a:ext cx="5074920" cy="4023360"/>
          </a:xfrm>
          <a:prstGeom prst="roundRect">
            <a:avLst>
              <a:gd name="adj" fmla="val 2727"/>
            </a:avLst>
          </a:prstGeom>
          <a:solidFill>
            <a:srgbClr val="102C3A"/>
          </a:solidFill>
          <a:ln/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885432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新形态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885432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分级告警 (Tier)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885432" y="2926080"/>
            <a:ext cx="868680" cy="502920"/>
          </a:xfrm>
          <a:prstGeom prst="rect">
            <a:avLst>
              <a:gd name="adj" fmla="val 14545"/>
            </a:avLst>
          </a:prstGeom>
          <a:solidFill>
            <a:srgbClr val="D84B4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882128" y="292608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紧急 · 24 小时内复核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6885432" y="3566160"/>
            <a:ext cx="868680" cy="502920"/>
          </a:xfrm>
          <a:prstGeom prst="rect">
            <a:avLst>
              <a:gd name="adj" fmla="val 14545"/>
            </a:avLst>
          </a:prstGeom>
          <a:solidFill>
            <a:srgbClr val="C9861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7882128" y="356616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 · 3 天内复核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885432" y="4206240"/>
            <a:ext cx="868680" cy="502920"/>
          </a:xfrm>
          <a:prstGeom prst="rect">
            <a:avLst>
              <a:gd name="adj" fmla="val 14545"/>
            </a:avLst>
          </a:prstGeom>
          <a:solidFill>
            <a:srgbClr val="5D8AA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7882128" y="420624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 · 批量排序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6885432" y="48920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2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 复用原有评分逻辑。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885432" y="5212080"/>
            <a:ext cx="4617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强信号「跳出」平均池，命中即定级、直接置顶。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分级规则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分级逻辑：看命中几条高精度规则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074920" cy="3520440"/>
          </a:xfrm>
          <a:prstGeom prst="roundRect">
            <a:avLst>
              <a:gd name="adj" fmla="val 3117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02996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付款级高精度规则（入口 A）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43230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每条约 30% PPV —— 命中后约三成确实是洗钱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14400" y="2926080"/>
            <a:ext cx="4572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银行 / 营业地国家不一致</a:t>
            </a:r>
            <a:endParaRPr lang="en-US" sz="1400" dirty="0"/>
          </a:p>
          <a:p>
            <a:pPr marL="342900" indent="-342900">
              <a:lnSpc>
                <a:spcPct val="10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付款方 / 发票来源国不一致</a:t>
            </a:r>
            <a:endParaRPr lang="en-US" sz="1400" dirty="0"/>
          </a:p>
          <a:p>
            <a:pPr marL="342900" indent="-342900">
              <a:lnSpc>
                <a:spcPct val="10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主营业务 ≠ 采购品类</a:t>
            </a:r>
            <a:endParaRPr lang="en-US" sz="1400" dirty="0"/>
          </a:p>
          <a:p>
            <a:pPr marL="342900" indent="-342900">
              <a:lnSpc>
                <a:spcPct val="10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虚假发票特征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89320" y="1828800"/>
            <a:ext cx="5650992" cy="1005840"/>
          </a:xfrm>
          <a:prstGeom prst="roundRect">
            <a:avLst>
              <a:gd name="adj" fmla="val 10909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2057400"/>
            <a:ext cx="914400" cy="548640"/>
          </a:xfrm>
          <a:prstGeom prst="rect">
            <a:avLst>
              <a:gd name="adj" fmla="val 13333"/>
            </a:avLst>
          </a:prstGeom>
          <a:solidFill>
            <a:srgbClr val="D84B4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60920" y="1975104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 ≥ 2 条高精度规则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60920" y="23591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紧急 · 24 小时内复核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89320" y="3017520"/>
            <a:ext cx="5650992" cy="1005840"/>
          </a:xfrm>
          <a:prstGeom prst="roundRect">
            <a:avLst>
              <a:gd name="adj" fmla="val 10909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0" y="3246120"/>
            <a:ext cx="914400" cy="548640"/>
          </a:xfrm>
          <a:prstGeom prst="rect">
            <a:avLst>
              <a:gd name="adj" fmla="val 13333"/>
            </a:avLst>
          </a:prstGeom>
          <a:solidFill>
            <a:srgbClr val="C9861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360920" y="3163824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 1 条高精度规则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60920" y="354787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 · 3 天内复核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89320" y="4206240"/>
            <a:ext cx="5650992" cy="1005840"/>
          </a:xfrm>
          <a:prstGeom prst="roundRect">
            <a:avLst>
              <a:gd name="adj" fmla="val 10909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17920" y="4434840"/>
            <a:ext cx="914400" cy="548640"/>
          </a:xfrm>
          <a:prstGeom prst="rect">
            <a:avLst>
              <a:gd name="adj" fmla="val 13333"/>
            </a:avLst>
          </a:prstGeom>
          <a:solidFill>
            <a:srgbClr val="5D8AA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360920" y="4352544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未命中高精度规则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60920" y="473659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 · 批量排序（复用原有逻辑）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102C3A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供应商级信号（入口 B）同样并入：</a:t>
            </a:r>
            <a:pPr indent="0" marL="0">
              <a:buNone/>
            </a:pPr>
            <a:r>
              <a:rPr lang="en-US" sz="130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拆分 + 旗下高精度命中 → T1；单一行为信号（拆分 / 突增 / 多次命中）→ T2。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怎么发现 · 怎么运转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两个入口，一个越用越准的闭环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11680"/>
            <a:ext cx="548640" cy="54864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214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99339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 A · 付款级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" y="25786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单笔命中硬规则：国家不一致、虚假发票、业务 ≠ 品类…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55664" y="2011680"/>
            <a:ext cx="548640" cy="548640"/>
          </a:xfrm>
          <a:prstGeom prst="ellipse">
            <a:avLst/>
          </a:prstGeom>
          <a:solidFill>
            <a:srgbClr val="C9861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1214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9752" y="199339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 B · 供应商级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492240" y="25786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聚合多笔才看得出：拆分付款、付款突增、多次命中…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548640" y="33101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两入口合并成法务的一份统一告警清单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8016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 + 定级</a:t>
            </a:r>
            <a:endParaRPr lang="en-US" sz="13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384" y="4160520"/>
            <a:ext cx="237744" cy="237744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333756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352044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41605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06908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调查</a:t>
            </a:r>
            <a:endParaRPr lang="en-US" sz="13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1304" y="4160520"/>
            <a:ext cx="237744" cy="237744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12648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630936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4160520"/>
            <a:ext cx="274320" cy="27432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685800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法务裁决</a:t>
            </a:r>
            <a:endParaRPr lang="en-US" sz="13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50224" y="4160520"/>
            <a:ext cx="237744" cy="237744"/>
          </a:xfrm>
          <a:prstGeom prst="rect">
            <a:avLst/>
          </a:prstGeom>
        </p:spPr>
      </p:pic>
      <p:sp>
        <p:nvSpPr>
          <p:cNvPr id="30" name="Shape 20"/>
          <p:cNvSpPr/>
          <p:nvPr/>
        </p:nvSpPr>
        <p:spPr>
          <a:xfrm>
            <a:off x="891540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31" name="Shape 21"/>
          <p:cNvSpPr/>
          <p:nvPr/>
        </p:nvSpPr>
        <p:spPr>
          <a:xfrm>
            <a:off x="909828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9720" y="4160520"/>
            <a:ext cx="274320" cy="274320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964692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持续学习</a:t>
            </a:r>
            <a:endParaRPr lang="en-US" sz="1300" dirty="0"/>
          </a:p>
        </p:txBody>
      </p:sp>
      <p:sp>
        <p:nvSpPr>
          <p:cNvPr id="34" name="Shape 23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4FAFB"/>
          </a:solidFill>
          <a:ln w="15240">
            <a:solidFill>
              <a:srgbClr val="1BA39C"/>
            </a:solidFill>
            <a:prstDash val="dash"/>
          </a:ln>
        </p:spPr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2960" y="5212080"/>
            <a:ext cx="411480" cy="411480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1417320" y="502920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回流校准：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法务每一次复核都被结构化沉淀，反过来校准「该看谁、多急」—— 系统越用越准。</a:t>
            </a:r>
            <a:endParaRPr lang="en-US" sz="1350" dirty="0"/>
          </a:p>
        </p:txBody>
      </p:sp>
      <p:sp>
        <p:nvSpPr>
          <p:cNvPr id="37" name="Text 25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" dirty="0"/>
          </a:p>
        </p:txBody>
      </p:sp>
      <p:sp>
        <p:nvSpPr>
          <p:cNvPr id="38" name="Text 26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端到端流程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一笔付款在系统中的流转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82880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订单流入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 万 / 天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011680" y="2286000"/>
            <a:ext cx="274320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286000" y="18288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331720" y="1828800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 + 分层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双入口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977640" y="2286000"/>
            <a:ext cx="24688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251960" y="1682496"/>
            <a:ext cx="1463040" cy="1207008"/>
          </a:xfrm>
          <a:prstGeom prst="diamond">
            <a:avLst/>
          </a:prstGeom>
          <a:solidFill>
            <a:srgbClr val="FFF6E8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51960" y="1682496"/>
            <a:ext cx="1463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等级？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15000" y="2286000"/>
            <a:ext cx="274320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5440680" y="148132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4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 / T2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89320" y="18288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35040" y="1828800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调查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生成证据包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80960" y="2286000"/>
            <a:ext cx="24688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001000" y="1682496"/>
            <a:ext cx="1463040" cy="1207008"/>
          </a:xfrm>
          <a:prstGeom prst="diamond">
            <a:avLst/>
          </a:prstGeom>
          <a:solidFill>
            <a:srgbClr val="FFF6E8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1000" y="1682496"/>
            <a:ext cx="1463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是否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洗钱？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464040" y="2286000"/>
            <a:ext cx="24688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710928" y="1828800"/>
            <a:ext cx="178308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56648" y="182880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进化与学习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校准 · 发现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983480" y="2889504"/>
            <a:ext cx="0" cy="539496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5074920" y="2907792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D8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069080" y="3429000"/>
            <a:ext cx="1828800" cy="685800"/>
          </a:xfrm>
          <a:prstGeom prst="roundRect">
            <a:avLst>
              <a:gd name="adj" fmla="val 13333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14800" y="342900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批量评分排序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732520" y="2889504"/>
            <a:ext cx="0" cy="539496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8796528" y="29077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87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 / 否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772400" y="3429000"/>
            <a:ext cx="1920240" cy="685800"/>
          </a:xfrm>
          <a:prstGeom prst="roundRect">
            <a:avLst>
              <a:gd name="adj" fmla="val 13333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818120" y="342900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记录结论 → 学习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0602468" y="2743200"/>
            <a:ext cx="0" cy="1591056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870948" y="4334256"/>
            <a:ext cx="1463040" cy="1207008"/>
          </a:xfrm>
          <a:prstGeom prst="diamond">
            <a:avLst/>
          </a:prstGeom>
          <a:solidFill>
            <a:srgbClr val="FFF6E8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870948" y="4334256"/>
            <a:ext cx="1463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 ≥ 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且 PPV 达标？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870948" y="4937760"/>
            <a:ext cx="-26974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9601200" y="4553712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680960" y="4617720"/>
            <a:ext cx="1920240" cy="640080"/>
          </a:xfrm>
          <a:prstGeom prst="roundRect">
            <a:avLst>
              <a:gd name="adj" fmla="val 14286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726680" y="46177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继续观察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698480" y="539496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87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0602468" y="5541264"/>
            <a:ext cx="0" cy="448056"/>
          </a:xfrm>
          <a:prstGeom prst="line">
            <a:avLst/>
          </a:prstGeom>
          <a:noFill/>
          <a:ln w="21590">
            <a:solidFill>
              <a:srgbClr val="1BA39C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3131820" y="5989320"/>
            <a:ext cx="7470648" cy="0"/>
          </a:xfrm>
          <a:prstGeom prst="line">
            <a:avLst/>
          </a:prstGeom>
          <a:noFill/>
          <a:ln w="21590">
            <a:solidFill>
              <a:srgbClr val="1BA39C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3131820" y="2743200"/>
            <a:ext cx="0" cy="3246120"/>
          </a:xfrm>
          <a:prstGeom prst="line">
            <a:avLst/>
          </a:prstGeom>
          <a:noFill/>
          <a:ln w="21590">
            <a:solidFill>
              <a:srgbClr val="1BA39C"/>
            </a:solidFill>
            <a:prstDash val="dash"/>
            <a:headEnd type="triangle"/>
          </a:ln>
        </p:spPr>
      </p:sp>
      <p:sp>
        <p:nvSpPr>
          <p:cNvPr id="41" name="Text 39"/>
          <p:cNvSpPr/>
          <p:nvPr/>
        </p:nvSpPr>
        <p:spPr>
          <a:xfrm>
            <a:off x="3383280" y="55961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新信号转正 / 调整分层  </a:t>
            </a:r>
            <a:pPr indent="0" marL="0">
              <a:buNone/>
            </a:pPr>
            <a:r>
              <a:rPr lang="en-US" sz="11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受统计校准 + 人工审批把关。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三个核心创新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从「静态规则」走向「会进化的助手」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670048"/>
            <a:ext cx="466344" cy="4663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834640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868680" y="35204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调查 Agent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86968" y="4069080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自动多源取证（企查查 / 天眼查 / Dow Jones），把每件调查从 1 小时压到几分钟；人做最终判断。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15968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36008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670048"/>
            <a:ext cx="466344" cy="4663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601968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0"/>
          <p:cNvSpPr/>
          <p:nvPr/>
        </p:nvSpPr>
        <p:spPr>
          <a:xfrm>
            <a:off x="4636008" y="35204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自我进化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654296" y="4069080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从已确认案例中发现规则集里还没有的新信号 —— 但只能进「候选」，须校准 + 审批才生效。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83296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03336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4" y="2670048"/>
            <a:ext cx="466344" cy="46634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369296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3400" dirty="0"/>
          </a:p>
        </p:txBody>
      </p:sp>
      <p:sp>
        <p:nvSpPr>
          <p:cNvPr id="20" name="Text 15"/>
          <p:cNvSpPr/>
          <p:nvPr/>
        </p:nvSpPr>
        <p:spPr>
          <a:xfrm>
            <a:off x="8403336" y="35204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信号台账 + 校准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8421624" y="4069080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每个信号靠真实命中率自动升级 / 降级，不靠拍脑袋；所有变更可审计。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重点创新 · 自我进化（Hermes Agent）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系统自己「发现」新风险，但分级仍需把关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过去信号全靠法务凭经验预先定义；现在 Agent 从积累的案例中主动提出新假设。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1BA39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63040" y="2487168"/>
            <a:ext cx="640080" cy="6400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1056" y="2615184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发现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5836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学出反复出现的新模式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3063240"/>
            <a:ext cx="292608" cy="29260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33756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251960" y="2487168"/>
            <a:ext cx="640080" cy="640080"/>
          </a:xfrm>
          <a:prstGeom prst="ellipse">
            <a:avLst/>
          </a:prstGeom>
          <a:solidFill>
            <a:srgbClr val="C9861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615184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进入候选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344728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标记待验证、先观察</a:t>
            </a:r>
            <a:endParaRPr lang="en-US" sz="11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3016" y="3063240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12648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5D8AA8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7040880" y="2487168"/>
            <a:ext cx="640080" cy="640080"/>
          </a:xfrm>
          <a:prstGeom prst="ellipse">
            <a:avLst/>
          </a:prstGeom>
          <a:solidFill>
            <a:srgbClr val="5D8AA8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8896" y="2615184"/>
            <a:ext cx="384048" cy="38404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21792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统计校准</a:t>
            </a:r>
            <a:endParaRPr lang="en-US" sz="1450" dirty="0"/>
          </a:p>
        </p:txBody>
      </p:sp>
      <p:sp>
        <p:nvSpPr>
          <p:cNvPr id="21" name="Text 14"/>
          <p:cNvSpPr/>
          <p:nvPr/>
        </p:nvSpPr>
        <p:spPr>
          <a:xfrm>
            <a:off x="623620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用真实命中率验证</a:t>
            </a:r>
            <a:endParaRPr lang="en-US" sz="115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936" y="3063240"/>
            <a:ext cx="292608" cy="29260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891540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22875A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9829800" y="2487168"/>
            <a:ext cx="640080" cy="640080"/>
          </a:xfrm>
          <a:prstGeom prst="ellipse">
            <a:avLst/>
          </a:prstGeom>
          <a:solidFill>
            <a:srgbClr val="22875A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615184"/>
            <a:ext cx="384048" cy="38404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900684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人工审批</a:t>
            </a:r>
            <a:endParaRPr lang="en-US" sz="1450" dirty="0"/>
          </a:p>
        </p:txBody>
      </p:sp>
      <p:sp>
        <p:nvSpPr>
          <p:cNvPr id="27" name="Text 18"/>
          <p:cNvSpPr/>
          <p:nvPr/>
        </p:nvSpPr>
        <p:spPr>
          <a:xfrm>
            <a:off x="902512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委员会签字才生效</a:t>
            </a:r>
            <a:endParaRPr lang="en-US" sz="1150" dirty="0"/>
          </a:p>
        </p:txBody>
      </p:sp>
      <p:sp>
        <p:nvSpPr>
          <p:cNvPr id="28" name="Shape 19"/>
          <p:cNvSpPr/>
          <p:nvPr/>
        </p:nvSpPr>
        <p:spPr>
          <a:xfrm>
            <a:off x="548640" y="452628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F6E8"/>
          </a:solidFill>
          <a:ln w="15240">
            <a:solidFill>
              <a:srgbClr val="F0D8A8"/>
            </a:solidFill>
            <a:prstDash val="solid"/>
          </a:ln>
        </p:spPr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864608"/>
            <a:ext cx="457200" cy="457200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1508760" y="4617720"/>
            <a:ext cx="9921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C986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合规底线：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自我进化只能「发现假设」，绝不能黑盒改告警等级。任何影响分级的变更，都必须经过可审计的统计校准 + 人工审批。</a:t>
            </a:r>
            <a:endParaRPr lang="en-US" sz="1350" dirty="0"/>
          </a:p>
        </p:txBody>
      </p:sp>
      <p:sp>
        <p:nvSpPr>
          <p:cNvPr id="31" name="Text 21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000" dirty="0"/>
          </a:p>
        </p:txBody>
      </p:sp>
      <p:sp>
        <p:nvSpPr>
          <p:cNvPr id="32" name="Text 2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206240"/>
            <a:ext cx="5486400" cy="5486400"/>
          </a:xfrm>
          <a:prstGeom prst="ellipse">
            <a:avLst/>
          </a:prstGeom>
          <a:solidFill>
            <a:srgbClr val="1BA39C">
              <a:alpha val="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一句话总结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把高价值告警顶上来，让系统越用越准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201168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分级告警替代整体评分（强信号不再被稀释），双入口覆盖单笔与跨笔手法，AI 调查提效，自我进化发现新风险 —— 所有分级变更都在「统计校准 + 人工审批」的可审计闸门内。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3566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对法务团队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995928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2688" y="3931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一份排好序的清单，不再大海捞针</a:t>
            </a:r>
            <a:endParaRPr lang="en-US" sz="12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99592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56248" y="3931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每笔都附「为什么」，便于解释</a:t>
            </a:r>
            <a:endParaRPr lang="en-US" sz="12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99432"/>
            <a:ext cx="274320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32688" y="4535424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可解释 · 可审计，经得起监管追问</a:t>
            </a:r>
            <a:endParaRPr lang="en-US" sz="12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4599432"/>
            <a:ext cx="274320" cy="2743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56248" y="4535424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你的每次复核都在让系统更准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548640" y="5440680"/>
            <a:ext cx="11091672" cy="566928"/>
          </a:xfrm>
          <a:prstGeom prst="roundRect">
            <a:avLst>
              <a:gd name="adj" fmla="val 16129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777240" y="5440680"/>
            <a:ext cx="10698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后续对接：</a:t>
            </a:r>
            <a:pPr indent="0" marL="0">
              <a:buNone/>
            </a:pPr>
            <a:r>
              <a:rPr lang="en-US" sz="120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真实数据源（企查查 / 天眼查 / Dow Jones）· 部署 Hermes Agent 框架 · 接入付款系统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54864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原型演示 · 公司付款数据为合成数据，外部数据源 / Hermes 框架 / 付款冻结为待对接项。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AML 付款风险识别系统 · 法务版</dc:title>
  <dc:subject>PptxGenJS Presentation</dc:subject>
  <dc:creator>PptxGenJS</dc:creator>
  <cp:lastModifiedBy>PptxGenJS</cp:lastModifiedBy>
  <cp:revision>1</cp:revision>
  <dcterms:created xsi:type="dcterms:W3CDTF">2026-06-03T06:21:35Z</dcterms:created>
  <dcterms:modified xsi:type="dcterms:W3CDTF">2026-06-03T06:21:35Z</dcterms:modified>
</cp:coreProperties>
</file>