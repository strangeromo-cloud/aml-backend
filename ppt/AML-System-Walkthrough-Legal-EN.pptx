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377440"/>
            <a:ext cx="5943600" cy="5943600"/>
          </a:xfrm>
          <a:prstGeom prst="ellipse">
            <a:avLst/>
          </a:prstGeom>
          <a:solidFill>
            <a:srgbClr val="1BA39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2560320"/>
            <a:ext cx="4572000" cy="4572000"/>
          </a:xfrm>
          <a:prstGeom prst="ellipse">
            <a:avLst/>
          </a:prstGeom>
          <a:solidFill>
            <a:srgbClr val="1BA39C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A39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1005840"/>
          </a:xfrm>
          <a:prstGeom prst="rect">
            <a:avLst>
              <a:gd name="adj" fmla="val 18182"/>
            </a:avLst>
          </a:prstGeom>
          <a:solidFill>
            <a:srgbClr val="1BA39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Risk Identification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Score to Tiered Alerts + Self-Evolution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Walkthrough for the Legal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WE 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rare few among massive payments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~3.65M per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laundering cases / year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 ≈ 1 in 400,000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66176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285292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high-precision rule hits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real laundering (PPV)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84464" y="34381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industry edge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02C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every laundering case is neither achievable nor verifiable (fewer than 10 samples a year makes traditional ML unworkable).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goal: make the limited number Legal can review each day as high-value as possible.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PRODUCT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overall score to tiered alerts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score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40% + Payment 35% + Reasonableness 25%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0–100 score, ranked High / Medium / 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224528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 get diluted by averaging: a payment hitting 2 hard rules (30% PPV each) is averaged down by normal dimensions — it sinks in the queue and may never be seen.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611880"/>
            <a:ext cx="566928" cy="566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02C3A"/>
          </a:solidFill>
          <a:ln/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85432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alerts (Tier)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85432" y="2926080"/>
            <a:ext cx="868680" cy="502920"/>
          </a:xfrm>
          <a:prstGeom prst="rect">
            <a:avLst>
              <a:gd name="adj" fmla="val 14545"/>
            </a:avLst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82128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review within 24h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85432" y="3566160"/>
            <a:ext cx="868680" cy="502920"/>
          </a:xfrm>
          <a:prstGeom prst="rect">
            <a:avLst>
              <a:gd name="adj" fmla="val 14545"/>
            </a:avLst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82128" y="3566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review within 3 days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85432" y="4206240"/>
            <a:ext cx="868680" cy="502920"/>
          </a:xfrm>
          <a:prstGeom prst="rect">
            <a:avLst>
              <a:gd name="adj" fmla="val 14545"/>
            </a:avLst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82128" y="4206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· batch ranking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85432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reuses the existing scoring logic.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521208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signals jump out of the averaging pool — a hit sets the tier and goes straight to the top.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tier is assigned: how many hard rules it hits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Payment-level high-precision rules (Entry A)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PPV each — about a third of hits are real laundering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business country mismatch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/ invoice-origin country mismatch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≠ procurement category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Fake-invoice indicators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057400"/>
            <a:ext cx="914400" cy="548640"/>
          </a:xfrm>
          <a:prstGeom prst="rect">
            <a:avLst>
              <a:gd name="adj" fmla="val 13333"/>
            </a:avLst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60920" y="197510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≥ 2 high-precision rules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60920" y="23591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review within 24h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01752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246120"/>
            <a:ext cx="914400" cy="548640"/>
          </a:xfrm>
          <a:prstGeom prst="rect">
            <a:avLst>
              <a:gd name="adj" fmla="val 13333"/>
            </a:avLst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316382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1 high-precision rule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60920" y="35478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review within 3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4206240"/>
            <a:ext cx="5650992" cy="1005840"/>
          </a:xfrm>
          <a:prstGeom prst="roundRect">
            <a:avLst>
              <a:gd name="adj" fmla="val 1090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434840"/>
            <a:ext cx="914400" cy="548640"/>
          </a:xfrm>
          <a:prstGeom prst="rect">
            <a:avLst>
              <a:gd name="adj" fmla="val 13333"/>
            </a:avLst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60920" y="435254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high-precision hit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60920" y="473659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· batch ranking (existing logic)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102C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B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Vendor-level signals (Entry B) feed in too: </a:t>
            </a:r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+ a high-precision hit → T1; any single behavioral signal (structuring / surge / repeated hits) → T2.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DETECTS · HOW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entry points, one loop that keeps improving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A · Payment-level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payment hits a hard rule: country mismatch, fake invoice, business ≠ category…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011680"/>
            <a:ext cx="548640" cy="54864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 · Vendor-level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57860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only across payments: structuring, payment surges, repeated hits…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310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entries merge into one unified alert list for Legal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Tier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416052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33756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2044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160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1605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Decision</a:t>
            </a:r>
            <a:endParaRPr lang="en-US" sz="12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4" y="416052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154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098280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1605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8404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AFB"/>
          </a:solidFill>
          <a:ln w="15240">
            <a:solidFill>
              <a:srgbClr val="1BA39C"/>
            </a:solidFill>
            <a:prstDash val="dash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17320" y="5029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review is captured to recalibrate who to look at and how urgently — the system keeps getting sharper.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payment flows through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/ 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8600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+ Tier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286000"/>
            <a:ext cx="274320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40680" y="1481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/ T2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8288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8288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168249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68249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4688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10928" y="182880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&amp; Learn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discover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74920" y="2907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4290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34290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score &amp; rank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32520" y="2889504"/>
            <a:ext cx="0" cy="53949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823960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42900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429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 → learning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2468" y="2743200"/>
            <a:ext cx="0" cy="1591056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70948" y="4334256"/>
            <a:ext cx="1463040" cy="1207008"/>
          </a:xfrm>
          <a:prstGeom prst="diamond">
            <a:avLst/>
          </a:prstGeom>
          <a:solidFill>
            <a:srgbClr val="FFF6E8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0948" y="4334256"/>
            <a:ext cx="14630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≥ 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A6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PPV ok?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0948" y="4937760"/>
            <a:ext cx="-269748" cy="0"/>
          </a:xfrm>
          <a:prstGeom prst="line">
            <a:avLst/>
          </a:prstGeom>
          <a:noFill/>
          <a:ln w="22225">
            <a:solidFill>
              <a:srgbClr val="9FB6C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646920" y="45537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461772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26680" y="4617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observing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698480" y="5394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02468" y="5541264"/>
            <a:ext cx="0" cy="448056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131820" y="5989320"/>
            <a:ext cx="7470648" cy="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131820" y="2743200"/>
            <a:ext cx="0" cy="3246120"/>
          </a:xfrm>
          <a:prstGeom prst="line">
            <a:avLst/>
          </a:prstGeom>
          <a:noFill/>
          <a:ln w="21590">
            <a:solidFill>
              <a:srgbClr val="1BA39C"/>
            </a:solidFill>
            <a:prstDash val="dash"/>
            <a:headEnd type="triangle"/>
          </a:ln>
        </p:spPr>
      </p:sp>
      <p:sp>
        <p:nvSpPr>
          <p:cNvPr id="41" name="Text 39"/>
          <p:cNvSpPr/>
          <p:nvPr/>
        </p:nvSpPr>
        <p:spPr>
          <a:xfrm>
            <a:off x="3383280" y="5596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new signal / adjust tier  </a:t>
            </a:r>
            <a:pPr indent="0" marL="0">
              <a:buNone/>
            </a:pPr>
            <a:r>
              <a:rPr lang="en-US" sz="11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gated by statistical calibration + human approval.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INNOVATIONS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rules to an evolving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7004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Investigation Agent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6968" y="4297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multi-source evidence (Qichacha / Tianyancha / Dow Jones) cuts each case from an hour to minutes; humans make the final call.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67004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1968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636008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Self-Evolution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54296" y="4297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discovers new signals not yet in the rule set — but they enter only as candidates, taking effect after calibration + approval.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3296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3336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670048"/>
            <a:ext cx="466344" cy="4663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69296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403336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Ledger + Calibration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21624" y="4297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is promoted / demoted by its real hit rate, not gut feel; every change is auditable.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· SELF-EVOLUTION (HERMES AGENT)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discovers new risks — but tiering stays gated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used to be predefined by Legal from experience; now the agent proposes new hypotheses from accumulated cases.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1BA3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87168"/>
            <a:ext cx="640080" cy="6400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recurring new patterns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0632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151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Candidacy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4728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pending, observe first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06324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5D8AA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040880" y="2487168"/>
            <a:ext cx="640080" cy="640080"/>
          </a:xfrm>
          <a:prstGeom prst="ellipse">
            <a:avLst/>
          </a:prstGeom>
          <a:solidFill>
            <a:srgbClr val="5D8AA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6151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Calibration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23620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real hit rate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063240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154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22875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829800" y="2487168"/>
            <a:ext cx="640080" cy="640080"/>
          </a:xfrm>
          <a:prstGeom prst="ellipse">
            <a:avLst/>
          </a:prstGeom>
          <a:solidFill>
            <a:srgbClr val="22875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615184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9025128" y="363931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only after sign-off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0D8A8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646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4617720"/>
            <a:ext cx="9921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98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bottom line: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self-evolution may only propose hypotheses — never silently change alert tiers. Any change affecting tiering must pass auditable statistical calibration + human approval.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Payment Risk Identification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1BA39C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high-value alerts, and keep getting sharper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alerts replace the overall score (strong signals no longer diluted), two entry points cover single- and cross-payment tactics, AI speeds up investigation, and self-evolution surfaces new risks — with every tiering change inside an auditable gate of statistical calibration + human approval.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LEGAL TEAM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95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— no more needle in a haystack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959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6248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comes with a 'why', easy to explain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994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auditable — stands up to regulators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5994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6248" y="45354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you do makes the system sharper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77240" y="54406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1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sources (Qichacha / Tianyancha / Dow Jones) · deploy the Hermes Agent framework · integrate the payment system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· company payment data is synthetic; external data sources / Hermes framework / payment hold are pending integration.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Payment Risk System · Legal Edition</dc:title>
  <dc:subject>PptxGenJS Presentation</dc:subject>
  <dc:creator>PptxGenJS</dc:creator>
  <cp:lastModifiedBy>PptxGenJS</cp:lastModifiedBy>
  <cp:revision>1</cp:revision>
  <dcterms:created xsi:type="dcterms:W3CDTF">2026-06-03T06:23:15Z</dcterms:created>
  <dcterms:modified xsi:type="dcterms:W3CDTF">2026-06-03T06:23:15Z</dcterms:modified>
</cp:coreProperties>
</file>