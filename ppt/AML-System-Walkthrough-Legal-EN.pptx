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095" y="-2377440"/>
            <a:ext cx="5943600" cy="5943600"/>
          </a:xfrm>
          <a:prstGeom prst="ellipse">
            <a:avLst/>
          </a:prstGeom>
          <a:solidFill>
            <a:srgbClr val="1BA39C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997135" y="2560320"/>
            <a:ext cx="4572000" cy="4572000"/>
          </a:xfrm>
          <a:prstGeom prst="ellipse">
            <a:avLst/>
          </a:prstGeom>
          <a:solidFill>
            <a:srgbClr val="1BA39C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A39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2194560" cy="1005840"/>
          </a:xfrm>
          <a:prstGeom prst="rect">
            <a:avLst>
              <a:gd name="adj" fmla="val 18182"/>
            </a:avLst>
          </a:prstGeom>
          <a:solidFill>
            <a:srgbClr val="1BA39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Risk Identification System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611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Single Score to Tiered Alerts + Self-Evolution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Walkthrough for the Legal Team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REALITY WE FACE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rare few among massive payments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10K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49808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/ day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~3.65M per year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98848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17136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laundering cases / year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17136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rate ≈ 1 in 400,000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83296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66176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2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284464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high-precision rule hits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real laundering (PPV)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84464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rare industry edge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91672" cy="1463040"/>
          </a:xfrm>
          <a:prstGeom prst="roundRect">
            <a:avLst>
              <a:gd name="adj" fmla="val 7500"/>
            </a:avLst>
          </a:prstGeom>
          <a:solidFill>
            <a:srgbClr val="102C3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68172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 every laundering case is neither achievable nor verifiable (fewer than 10 samples a year makes traditional ML unworkable).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goal: make the limited number Legal can review each day as high-value as possible.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PRODUCT SHIFT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overall score to tiered alerts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LOGIC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weighted score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40% + Payment 35% + Reasonableness 25%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one 0–100 score, ranked High / Medium / Low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6968" y="4224528"/>
            <a:ext cx="45720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signals get diluted by averaging: a payment hitting 2 hard rules (30% PPV each) is averaged down by normal dimensions — it sinks in the queue and may never be seen.</a:t>
            </a:r>
            <a:endParaRPr lang="en-US" sz="12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3611880"/>
            <a:ext cx="566928" cy="56692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565392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102C3A"/>
          </a:solidFill>
          <a:ln/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885432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FORM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85432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alerts (Tier)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885432" y="2926080"/>
            <a:ext cx="868680" cy="502920"/>
          </a:xfrm>
          <a:prstGeom prst="rect">
            <a:avLst>
              <a:gd name="adj" fmla="val 14545"/>
            </a:avLst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882128" y="292608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· review within 24h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885432" y="3566160"/>
            <a:ext cx="868680" cy="502920"/>
          </a:xfrm>
          <a:prstGeom prst="rect">
            <a:avLst>
              <a:gd name="adj" fmla="val 14545"/>
            </a:avLst>
          </a:prstGeom>
          <a:solidFill>
            <a:srgbClr val="C9861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882128" y="356616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· review within 3 days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885432" y="4206240"/>
            <a:ext cx="868680" cy="502920"/>
          </a:xfrm>
          <a:prstGeom prst="rect">
            <a:avLst>
              <a:gd name="adj" fmla="val 14545"/>
            </a:avLst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882128" y="420624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· batch ranking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885432" y="4892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reuses the existing scoring logic.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885432" y="5212080"/>
            <a:ext cx="4617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signals jump out of the averaging pool — a hit sets the tier and goes straight to the top.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DETECTS · HOW IT RUNS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entry points, one loop that keeps improving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11680"/>
            <a:ext cx="548640" cy="5486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214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A · Payment-level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payment hits a hard rule: country mismatch, fake invoice, business ≠ category…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55664" y="2011680"/>
            <a:ext cx="548640" cy="54864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1214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B · Vendor-level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92240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only across payments: structuring, payment surges, repeated hits…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48640" y="33101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entries merge into one unified alert list for Legal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+ Tier</a:t>
            </a:r>
            <a:endParaRPr lang="en-US" sz="12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384" y="4160520"/>
            <a:ext cx="237744" cy="23774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333756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352044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41605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6908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</a:t>
            </a:r>
            <a:endParaRPr lang="en-US" sz="12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1304" y="4160520"/>
            <a:ext cx="237744" cy="237744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2648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630936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4160520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85800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Decision</a:t>
            </a:r>
            <a:endParaRPr lang="en-US" sz="125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50224" y="4160520"/>
            <a:ext cx="237744" cy="237744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891540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09828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20" y="4160520"/>
            <a:ext cx="274320" cy="27432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964692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Learning</a:t>
            </a:r>
            <a:endParaRPr lang="en-US" sz="1250" dirty="0"/>
          </a:p>
        </p:txBody>
      </p:sp>
      <p:sp>
        <p:nvSpPr>
          <p:cNvPr id="34" name="Shape 23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4FAFB"/>
          </a:solidFill>
          <a:ln w="15240">
            <a:solidFill>
              <a:srgbClr val="1BA39C"/>
            </a:solidFill>
            <a:prstDash val="dash"/>
          </a:ln>
        </p:spPr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5212080"/>
            <a:ext cx="411480" cy="411480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1417320" y="502920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loop: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Legal review is captured to recalibrate who to look at and how urgently — the system keeps getting sharper.</a:t>
            </a:r>
            <a:endParaRPr lang="en-US" sz="1350" dirty="0"/>
          </a:p>
        </p:txBody>
      </p:sp>
      <p:sp>
        <p:nvSpPr>
          <p:cNvPr id="37" name="Text 2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8" name="Text 2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payment flows through the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82880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In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~10K / day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011680" y="2286000"/>
            <a:ext cx="274320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286000" y="18288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331720" y="182880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+ Tier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entry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97764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251960" y="168249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51960" y="168249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15000" y="2286000"/>
            <a:ext cx="274320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440680" y="148132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/ T2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8288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182880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pack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8096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001000" y="168249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1000" y="168249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laundering?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46404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710928" y="1828800"/>
            <a:ext cx="17830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56648" y="182880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Evolve &amp; Learn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· discover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983480" y="2889504"/>
            <a:ext cx="0" cy="53949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074920" y="2907792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8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069080" y="342900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14800" y="342900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score &amp; rank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732520" y="2889504"/>
            <a:ext cx="0" cy="53949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8823960" y="29077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/ No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772400" y="3429000"/>
            <a:ext cx="1920240" cy="685800"/>
          </a:xfrm>
          <a:prstGeom prst="roundRect">
            <a:avLst>
              <a:gd name="adj" fmla="val 13333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818120" y="342900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recorded → learning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602468" y="2743200"/>
            <a:ext cx="0" cy="159105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870948" y="433425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870948" y="433425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≥ 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PPV ok?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870948" y="4937760"/>
            <a:ext cx="-26974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9646920" y="4553712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680960" y="4617720"/>
            <a:ext cx="1920240" cy="640080"/>
          </a:xfrm>
          <a:prstGeom prst="roundRect">
            <a:avLst>
              <a:gd name="adj" fmla="val 1428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726680" y="46177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observing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698480" y="5394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0602468" y="5541264"/>
            <a:ext cx="0" cy="448056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3131820" y="5989320"/>
            <a:ext cx="7470648" cy="0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3131820" y="2743200"/>
            <a:ext cx="0" cy="3246120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  <a:headEnd type="triangle"/>
          </a:ln>
        </p:spPr>
      </p:sp>
      <p:sp>
        <p:nvSpPr>
          <p:cNvPr id="41" name="Text 39"/>
          <p:cNvSpPr/>
          <p:nvPr/>
        </p:nvSpPr>
        <p:spPr>
          <a:xfrm>
            <a:off x="3383280" y="559612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new signal / adjust tier  </a:t>
            </a:r>
            <a:pPr indent="0" marL="0">
              <a:buNone/>
            </a:pPr>
            <a:r>
              <a:rPr lang="en-US" sz="11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gated by statistical calibration + human approval.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CORE INNOVATIONS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static rules to an evolving assistant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670048"/>
            <a:ext cx="466344" cy="466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834640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868680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 Agent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86968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multi-source evidence (Qichacha / Tianyancha / Dow Jones) cuts each case from an hour to minutes; humans make the final call.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15968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36008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670048"/>
            <a:ext cx="466344" cy="4663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01968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4636008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Self-Evolution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654296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discovers new signals not yet in the rule set — but they enter only as candidates, taking effect after calibration + approval.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83296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03336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670048"/>
            <a:ext cx="466344" cy="4663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369296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8403336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Ledger + Calibration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21624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signal is promoted / demoted by its real hit rate, not gut feel; every change is auditable.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 · SELF-EVOLUTION (HERMES AGENT)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discovers new risks — but tiering stays gated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used to be predefined by Legal from experience; now the agent proposes new hypotheses from accumulated cases.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1BA39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2487168"/>
            <a:ext cx="640080" cy="6400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1056" y="2615184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Discovers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5836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recurring new patterns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3063240"/>
            <a:ext cx="292608" cy="29260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3756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251960" y="2487168"/>
            <a:ext cx="640080" cy="64008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615184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Enters Candidacy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344728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pending, observe first</a:t>
            </a:r>
            <a:endParaRPr lang="en-US" sz="11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016" y="3063240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12648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5D8AA8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7040880" y="2487168"/>
            <a:ext cx="640080" cy="640080"/>
          </a:xfrm>
          <a:prstGeom prst="ellipse">
            <a:avLst/>
          </a:prstGeom>
          <a:solidFill>
            <a:srgbClr val="5D8AA8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896" y="2615184"/>
            <a:ext cx="384048" cy="38404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21792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Calibration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623620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by real hit rate</a:t>
            </a:r>
            <a:endParaRPr lang="en-US" sz="11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36" y="3063240"/>
            <a:ext cx="292608" cy="29260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91540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22875A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9829800" y="2487168"/>
            <a:ext cx="640080" cy="640080"/>
          </a:xfrm>
          <a:prstGeom prst="ellipse">
            <a:avLst/>
          </a:prstGeom>
          <a:solidFill>
            <a:srgbClr val="22875A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615184"/>
            <a:ext cx="384048" cy="38404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00684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902512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only after sign-off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48640" y="452628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6E8"/>
          </a:solidFill>
          <a:ln w="15240">
            <a:solidFill>
              <a:srgbClr val="F0D8A8"/>
            </a:solidFill>
            <a:prstDash val="solid"/>
          </a:ln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864608"/>
            <a:ext cx="457200" cy="45720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508760" y="4617720"/>
            <a:ext cx="9921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98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bottom line: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self-evolution may only propose hypotheses — never silently change alert tiers. Any change affecting tiering must pass auditable statistical calibration + human approval.</a:t>
            </a:r>
            <a:endParaRPr lang="en-US" sz="1350" dirty="0"/>
          </a:p>
        </p:txBody>
      </p:sp>
      <p:sp>
        <p:nvSpPr>
          <p:cNvPr id="31" name="Text 2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206240"/>
            <a:ext cx="5486400" cy="5486400"/>
          </a:xfrm>
          <a:prstGeom prst="ellipse">
            <a:avLst/>
          </a:prstGeom>
          <a:solidFill>
            <a:srgbClr val="1BA39C">
              <a:alpha val="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 high-value alerts, and keep getting sharper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20116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alerts replace the overall score (strong signals no longer diluted), two entry points cover single- and cross-payment tactics, AI speeds up investigation, and self-evolution surfaces new risks — with every tiering change inside an auditable gate of statistical calibration + human approval.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566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LEGAL TEAM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9592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ranked list — no more needle in a haystack</a:t>
            </a:r>
            <a:endParaRPr lang="en-US" sz="12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99592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5624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comes with a 'why', easy to explain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99432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3268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&amp; auditable — stands up to regulators</a:t>
            </a:r>
            <a:endParaRPr lang="en-US" sz="12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599432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5624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review you do makes the system sharper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548640" y="5440680"/>
            <a:ext cx="11091672" cy="566928"/>
          </a:xfrm>
          <a:prstGeom prst="roundRect">
            <a:avLst>
              <a:gd name="adj" fmla="val 16129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777240" y="5440680"/>
            <a:ext cx="10698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2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sources (Qichacha / Tianyancha / Dow Jones) · deploy the Hermes Agent framework · integrate the payment system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demo · company payment data is synthetic; external data sources / Hermes framework / payment hold are pending integration.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AML Payment Risk System · Legal Edition</dc:title>
  <dc:subject>PptxGenJS Presentation</dc:subject>
  <dc:creator>PptxGenJS</dc:creator>
  <cp:lastModifiedBy>PptxGenJS</cp:lastModifiedBy>
  <cp:revision>1</cp:revision>
  <dcterms:created xsi:type="dcterms:W3CDTF">2026-06-03T02:58:12Z</dcterms:created>
  <dcterms:modified xsi:type="dcterms:W3CDTF">2026-06-03T02:58:12Z</dcterms:modified>
</cp:coreProperties>
</file>