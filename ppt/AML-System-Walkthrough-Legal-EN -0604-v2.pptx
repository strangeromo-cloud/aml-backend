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5" r:id="rId15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4912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2377440"/>
            <a:ext cx="5943600" cy="5943600"/>
          </a:xfrm>
          <a:prstGeom prst="ellipse">
            <a:avLst/>
          </a:prstGeom>
          <a:solidFill>
            <a:srgbClr val="1BA39C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97135" y="2560320"/>
            <a:ext cx="4572000" cy="4572000"/>
          </a:xfrm>
          <a:prstGeom prst="ellipse">
            <a:avLst/>
          </a:prstGeom>
          <a:solidFill>
            <a:srgbClr val="1BA39C">
              <a:alpha val="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A3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2194560" cy="1005840"/>
          </a:xfrm>
          <a:prstGeom prst="rect">
            <a:avLst/>
          </a:prstGeom>
          <a:solidFill>
            <a:srgbClr val="1BA39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17313F"/>
                </a:solidFill>
                <a:latin typeface="Calibri" pitchFamily="34" charset="0"/>
                <a:cs typeface="Calibri" pitchFamily="34" charset="-120"/>
              </a:rPr>
              <a:t>Anti</a:t>
            </a:r>
            <a:r>
              <a:rPr lang="en-US" altLang="zh-CN" sz="4000" b="1" dirty="0">
                <a:solidFill>
                  <a:srgbClr val="17313F"/>
                </a:solidFill>
                <a:latin typeface="Calibri" pitchFamily="34" charset="0"/>
                <a:cs typeface="Calibri" pitchFamily="34" charset="-120"/>
              </a:rPr>
              <a:t>-money</a:t>
            </a:r>
            <a:r>
              <a:rPr lang="zh-CN" altLang="en-US" sz="4000" b="1" dirty="0">
                <a:solidFill>
                  <a:srgbClr val="17313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" altLang="zh-CN" sz="4000" b="1" dirty="0">
                <a:solidFill>
                  <a:srgbClr val="17313F"/>
                </a:solidFill>
                <a:latin typeface="Calibri" pitchFamily="34" charset="0"/>
                <a:cs typeface="Calibri" pitchFamily="34" charset="-120"/>
              </a:rPr>
              <a:t>laundering</a:t>
            </a:r>
            <a:r>
              <a:rPr lang="zh-CN" altLang="en-US" sz="4000" b="1" dirty="0">
                <a:solidFill>
                  <a:srgbClr val="17313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4000" b="1" dirty="0">
                <a:solidFill>
                  <a:srgbClr val="17313F"/>
                </a:solidFill>
                <a:latin typeface="Calibri" pitchFamily="34" charset="0"/>
                <a:cs typeface="Calibri" pitchFamily="34" charset="-120"/>
              </a:rPr>
              <a:t>System</a:t>
            </a:r>
          </a:p>
        </p:txBody>
      </p:sp>
      <p:sp>
        <p:nvSpPr>
          <p:cNvPr id="7" name="Text 5"/>
          <p:cNvSpPr/>
          <p:nvPr/>
        </p:nvSpPr>
        <p:spPr>
          <a:xfrm>
            <a:off x="841248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Score to Tiered Alerts + Self-Evolution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2026-06-04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 WE 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rare few among massive payments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285292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/ day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34381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~3.65M per year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498848" y="20116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17136" y="285292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laundering cases / year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17136" y="34381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rate ≈ 1 in 400,000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8288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266176" y="20116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84464" y="285292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high-precision rule hits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real laundering (PPV)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84464" y="34381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rare industry edge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91672" cy="1463040"/>
          </a:xfrm>
          <a:prstGeom prst="roundRect">
            <a:avLst>
              <a:gd name="adj" fmla="val 7500"/>
            </a:avLst>
          </a:prstGeom>
          <a:solidFill>
            <a:srgbClr val="102C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22960" y="43159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7B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68172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every laundering case is neither achievable nor verifiable (fewer than 10 samples a year makes traditional ML unworkable).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7B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goal: make the limited number Legal can review each day as high-value as possible.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Payment Risk Identification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PRODUCT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overall score to tiered alerts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LOGIC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weighted score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40% + Payment 35% + Reasonableness 25%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0–100 score, ranked High / Medium / Low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4224528"/>
            <a:ext cx="4572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signals get diluted by averaging: a payment that hits even one 30%-PPV hard rule is averaged down by normal dimensions — it sinks in the queue and may never be seen.</a:t>
            </a:r>
            <a:endParaRPr lang="en-US" sz="12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611880"/>
            <a:ext cx="566928" cy="5669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565392" y="182880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102C3A"/>
          </a:solidFill>
          <a:ln/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6885432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7B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85432" y="2377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alerts (Tier)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885432" y="2926080"/>
            <a:ext cx="868680" cy="502920"/>
          </a:xfrm>
          <a:prstGeom prst="rect">
            <a:avLst/>
          </a:prstGeom>
          <a:solidFill>
            <a:srgbClr val="D84B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882128" y="29260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review within 24h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885432" y="3566160"/>
            <a:ext cx="868680" cy="502920"/>
          </a:xfrm>
          <a:prstGeom prst="rect">
            <a:avLst/>
          </a:prstGeom>
          <a:solidFill>
            <a:srgbClr val="C9861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882128" y="35661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· review within 3 days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885432" y="4206240"/>
            <a:ext cx="868680" cy="502920"/>
          </a:xfrm>
          <a:prstGeom prst="rect">
            <a:avLst/>
          </a:prstGeom>
          <a:solidFill>
            <a:srgbClr val="5D8AA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882128" y="42062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· batch ranking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885432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reuses the existing scoring logic.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85432" y="521208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37B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signals jump out of the averaging pool — a hit sets the tier and goes straight to the top.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Payment Risk Identification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TIERING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— by level</a:t>
            </a:r>
            <a:r>
              <a:rPr lang="zh-CN" altLang="en-US" sz="30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30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" altLang="zh-CN" sz="3000" b="1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Tiering requires confirmation</a:t>
            </a:r>
            <a:r>
              <a:rPr lang="en-US" altLang="zh-CN" sz="30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11296" cy="4160520"/>
          </a:xfrm>
          <a:prstGeom prst="roundRect">
            <a:avLst>
              <a:gd name="adj" fmla="val 3646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868680" cy="566928"/>
          </a:xfrm>
          <a:prstGeom prst="rect">
            <a:avLst/>
          </a:prstGeom>
          <a:solidFill>
            <a:srgbClr val="D84B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4688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within 24h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2962656" cy="0"/>
          </a:xfrm>
          <a:prstGeom prst="line">
            <a:avLst/>
          </a:prstGeom>
          <a:noFill/>
          <a:ln w="12700">
            <a:solidFill>
              <a:srgbClr val="DCE8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22960" y="2980944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ANY 1 high-precision rule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28712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/ business country mismatch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/ invoice-origin mismatch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scope ≠ category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Fake-invoice indicators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983480"/>
            <a:ext cx="2962656" cy="868680"/>
          </a:xfrm>
          <a:prstGeom prst="roundRect">
            <a:avLst>
              <a:gd name="adj" fmla="val 10526"/>
            </a:avLst>
          </a:prstGeom>
          <a:solidFill>
            <a:srgbClr val="FBEEEE"/>
          </a:solidFill>
          <a:ln w="12700">
            <a:solidFill>
              <a:srgbClr val="F0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60120" y="5029200"/>
            <a:ext cx="2688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D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straight to T1: </a:t>
            </a:r>
            <a:r>
              <a:rPr lang="en-US" sz="10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100%-accuracy checks — a single confirmed hit is high-confidence.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38828" y="1828800"/>
            <a:ext cx="3511296" cy="4160520"/>
          </a:xfrm>
          <a:prstGeom prst="roundRect">
            <a:avLst>
              <a:gd name="adj" fmla="val 3646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613148" y="2103120"/>
            <a:ext cx="868680" cy="566928"/>
          </a:xfrm>
          <a:prstGeom prst="rect">
            <a:avLst/>
          </a:prstGeom>
          <a:solidFill>
            <a:srgbClr val="C9861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18988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18988" y="24688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within 3 days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3148" y="2880360"/>
            <a:ext cx="2962656" cy="0"/>
          </a:xfrm>
          <a:prstGeom prst="line">
            <a:avLst/>
          </a:prstGeom>
          <a:noFill/>
          <a:ln w="12700">
            <a:solidFill>
              <a:srgbClr val="DCE8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613148" y="2980944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Vendor-level signal only (no hard hit)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13148" y="3611880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vendor-level behavioral signal: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4588" y="4023360"/>
            <a:ext cx="287121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(split payments)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surge (new vendor)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high-precision hits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9016" y="1828800"/>
            <a:ext cx="3511296" cy="4160520"/>
          </a:xfrm>
          <a:prstGeom prst="roundRect">
            <a:avLst>
              <a:gd name="adj" fmla="val 3646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03336" y="2103120"/>
            <a:ext cx="868680" cy="566928"/>
          </a:xfrm>
          <a:prstGeom prst="rect">
            <a:avLst/>
          </a:prstGeom>
          <a:solidFill>
            <a:srgbClr val="5D8AA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409176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09176" y="24688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ranking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03336" y="2880360"/>
            <a:ext cx="2962656" cy="0"/>
          </a:xfrm>
          <a:prstGeom prst="line">
            <a:avLst/>
          </a:prstGeom>
          <a:noFill/>
          <a:ln w="12700">
            <a:solidFill>
              <a:srgbClr val="DCE8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403336" y="2980944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 or behavioral hit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03336" y="3611880"/>
            <a:ext cx="296265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the existing weighted score — Vendor / Payment / Reasonableness — to rank a batch and review the top K.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Payment Risk Identification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DETECTS · HOW IT RUNS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entry points, one loop that keeps improving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04672" y="2011680"/>
            <a:ext cx="548640" cy="548640"/>
          </a:xfrm>
          <a:prstGeom prst="ellipse">
            <a:avLst/>
          </a:prstGeom>
          <a:solidFill>
            <a:srgbClr val="1BA39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933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A · Payment-level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57860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payment hits a hard rule: country mismatch, fake invoice, business ≠ category…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6455664" y="2011680"/>
            <a:ext cx="548640" cy="548640"/>
          </a:xfrm>
          <a:prstGeom prst="ellipse">
            <a:avLst/>
          </a:prstGeom>
          <a:solidFill>
            <a:srgbClr val="C9861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1214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19933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B · Vendor-level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57860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only across payments: structuring, payment surges, repeated hits…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33101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entries merge into one unified alert list for Legal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2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1605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8404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+ Tier</a:t>
            </a:r>
            <a:endParaRPr lang="en-US" sz="12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384" y="4160520"/>
            <a:ext cx="237744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33756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5"/>
          <p:cNvSpPr/>
          <p:nvPr/>
        </p:nvSpPr>
        <p:spPr>
          <a:xfrm>
            <a:off x="3520440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41605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69080" y="38404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Investigation</a:t>
            </a:r>
            <a:endParaRPr lang="en-US" sz="12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1304" y="4160520"/>
            <a:ext cx="23774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12648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18"/>
          <p:cNvSpPr/>
          <p:nvPr/>
        </p:nvSpPr>
        <p:spPr>
          <a:xfrm>
            <a:off x="6309360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160520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858000" y="38404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Decision</a:t>
            </a:r>
            <a:endParaRPr lang="en-US" sz="12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4160520"/>
            <a:ext cx="237744" cy="237744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891540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1"/>
          <p:cNvSpPr/>
          <p:nvPr/>
        </p:nvSpPr>
        <p:spPr>
          <a:xfrm>
            <a:off x="9098280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9720" y="4160520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646920" y="38404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250" dirty="0"/>
          </a:p>
        </p:txBody>
      </p:sp>
      <p:sp>
        <p:nvSpPr>
          <p:cNvPr id="34" name="Shape 23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4FAFB"/>
          </a:solidFill>
          <a:ln w="15240">
            <a:solidFill>
              <a:srgbClr val="1BA39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212080"/>
            <a:ext cx="411480" cy="41148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417320" y="50292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</a:t>
            </a:r>
            <a:r>
              <a:rPr lang="en-US" sz="13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Legal review is captured to recalibrate who to look at and how urgently — the system keeps getting sharper.</a:t>
            </a:r>
            <a:endParaRPr lang="en-US" sz="1350" dirty="0"/>
          </a:p>
        </p:txBody>
      </p:sp>
      <p:sp>
        <p:nvSpPr>
          <p:cNvPr id="37" name="Text 2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Payment Risk Identification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payment flows through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In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~10K / 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2286000"/>
            <a:ext cx="274320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286000" y="18288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331720" y="18288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+ Tier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entry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77640" y="2286000"/>
            <a:ext cx="246888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1682496"/>
            <a:ext cx="1463040" cy="1207008"/>
          </a:xfrm>
          <a:prstGeom prst="diamond">
            <a:avLst/>
          </a:prstGeom>
          <a:solidFill>
            <a:srgbClr val="FFF6E8"/>
          </a:solidFill>
          <a:ln w="19050">
            <a:solidFill>
              <a:srgbClr val="C986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251960" y="1682496"/>
            <a:ext cx="14630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A6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2286000"/>
            <a:ext cx="274320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440680" y="14813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/ T2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8288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035040" y="18288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Investigation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80960" y="2286000"/>
            <a:ext cx="246888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001000" y="1682496"/>
            <a:ext cx="1463040" cy="1207008"/>
          </a:xfrm>
          <a:prstGeom prst="diamond">
            <a:avLst/>
          </a:prstGeom>
          <a:solidFill>
            <a:srgbClr val="FFF6E8"/>
          </a:solidFill>
          <a:ln w="19050">
            <a:solidFill>
              <a:srgbClr val="C986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001000" y="1682496"/>
            <a:ext cx="14630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A6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laundering?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64040" y="2286000"/>
            <a:ext cx="246888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9710928" y="1828800"/>
            <a:ext cx="1783080" cy="91440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756648" y="182880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&amp; Learn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· discover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2889504"/>
            <a:ext cx="0" cy="539496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074920" y="29077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69080" y="342900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114800" y="34290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score &amp; rank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732520" y="2889504"/>
            <a:ext cx="0" cy="539496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823960" y="29077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72400" y="342900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818120" y="3429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recorded → learning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602468" y="2743200"/>
            <a:ext cx="0" cy="1591056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9870948" y="4334256"/>
            <a:ext cx="1463040" cy="1207008"/>
          </a:xfrm>
          <a:prstGeom prst="diamond">
            <a:avLst/>
          </a:prstGeom>
          <a:solidFill>
            <a:srgbClr val="FFF6E8"/>
          </a:solidFill>
          <a:ln w="19050">
            <a:solidFill>
              <a:srgbClr val="C986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870948" y="4334256"/>
            <a:ext cx="14630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≥ 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A6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PPV ok?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870948" y="4937760"/>
            <a:ext cx="0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646920" y="455371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80960" y="461772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726680" y="4617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observing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698480" y="539496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602468" y="5541264"/>
            <a:ext cx="0" cy="448056"/>
          </a:xfrm>
          <a:prstGeom prst="line">
            <a:avLst/>
          </a:prstGeom>
          <a:noFill/>
          <a:ln w="21590">
            <a:solidFill>
              <a:srgbClr val="1BA39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3131820" y="5989320"/>
            <a:ext cx="7470648" cy="0"/>
          </a:xfrm>
          <a:prstGeom prst="line">
            <a:avLst/>
          </a:prstGeom>
          <a:noFill/>
          <a:ln w="21590">
            <a:solidFill>
              <a:srgbClr val="1BA39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3131820" y="2743200"/>
            <a:ext cx="0" cy="3246120"/>
          </a:xfrm>
          <a:prstGeom prst="line">
            <a:avLst/>
          </a:prstGeom>
          <a:noFill/>
          <a:ln w="21590">
            <a:solidFill>
              <a:srgbClr val="1BA39C"/>
            </a:solidFill>
            <a:prstDash val="dash"/>
            <a:head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3383280" y="55961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new signal / adjust tier  </a:t>
            </a:r>
            <a:r>
              <a:rPr lang="en-US" sz="11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gated by statistical calibration + human approval.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Payment Risk Identification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· SELF-EVOLUTION (HERMES AGENT)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30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rules to an evolving assistant</a:t>
            </a:r>
            <a:r>
              <a:rPr lang="zh-CN" altLang="en-US" sz="3000" dirty="0"/>
              <a:t> </a:t>
            </a:r>
            <a:r>
              <a:rPr lang="en-US" altLang="zh-CN" sz="3000" dirty="0"/>
              <a:t>-</a:t>
            </a:r>
            <a:r>
              <a:rPr lang="zh-CN" altLang="en-US" sz="3000" dirty="0"/>
              <a:t> </a:t>
            </a:r>
            <a:r>
              <a:rPr lang="en-US" sz="30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tiering stays gated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used to be predefined by Legal from experience; now the agent proposes new hypotheses from accumulated cases.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1BA3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463040" y="2487168"/>
            <a:ext cx="640080" cy="640080"/>
          </a:xfrm>
          <a:prstGeom prst="ellipse">
            <a:avLst/>
          </a:prstGeom>
          <a:solidFill>
            <a:srgbClr val="1BA39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56" y="261518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Discovers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363931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recurring new patterns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096" y="3063240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3756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C986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4251960" y="2487168"/>
            <a:ext cx="640080" cy="640080"/>
          </a:xfrm>
          <a:prstGeom prst="ellipse">
            <a:avLst/>
          </a:prstGeom>
          <a:solidFill>
            <a:srgbClr val="C9861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261518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900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Candidacy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447288" y="363931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pending, observe first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063240"/>
            <a:ext cx="292608" cy="2926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2648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5D8A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2"/>
          <p:cNvSpPr/>
          <p:nvPr/>
        </p:nvSpPr>
        <p:spPr>
          <a:xfrm>
            <a:off x="7040880" y="2487168"/>
            <a:ext cx="640080" cy="640080"/>
          </a:xfrm>
          <a:prstGeom prst="ellipse">
            <a:avLst/>
          </a:prstGeom>
          <a:solidFill>
            <a:srgbClr val="5D8AA8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896" y="2615184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1792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Calibration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6236208" y="363931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real hit rate</a:t>
            </a:r>
            <a:endParaRPr lang="en-US" sz="11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936" y="3063240"/>
            <a:ext cx="292608" cy="29260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91540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2287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6"/>
          <p:cNvSpPr/>
          <p:nvPr/>
        </p:nvSpPr>
        <p:spPr>
          <a:xfrm>
            <a:off x="9829800" y="2487168"/>
            <a:ext cx="640080" cy="640080"/>
          </a:xfrm>
          <a:prstGeom prst="ellipse">
            <a:avLst/>
          </a:prstGeom>
          <a:solidFill>
            <a:srgbClr val="22875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7816" y="2615184"/>
            <a:ext cx="384048" cy="38404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00684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9025128" y="363931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only after sign-off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548640" y="452628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FFF6E8"/>
          </a:solidFill>
          <a:ln w="15240">
            <a:solidFill>
              <a:srgbClr val="F0D8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4864608"/>
            <a:ext cx="457200" cy="4572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508760" y="4617720"/>
            <a:ext cx="9921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C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bottom line: </a:t>
            </a:r>
            <a:r>
              <a:rPr lang="en-US" sz="13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self-evolution may only propose hypotheses — never silently change alert tiers. Any change affecting tiering must pass auditable statistical calibration + human approval.</a:t>
            </a:r>
            <a:endParaRPr lang="en-US" sz="1350" dirty="0"/>
          </a:p>
        </p:txBody>
      </p:sp>
      <p:sp>
        <p:nvSpPr>
          <p:cNvPr id="31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Payment Risk Identification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1BA39C">
              <a:alpha val="6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high-value alerts, and keep getting sharper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alerts replace the overall score (strong signals no longer diluted), two entry points cover single- and cross-payment tactics, AI speeds up investigation, and self-evolution surfaces new risks — with every tiering change inside an auditable gate of statistical calibration + human approval.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LEGAL TEAM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959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9319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list — no more needle in a haystack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99592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56248" y="39319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comes with a 'why', easy to explain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9943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2688" y="4535424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&amp; auditable — stands up to regulators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59943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56248" y="4535424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 you do makes the system sharper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548640" y="544068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0"/>
          <p:cNvSpPr/>
          <p:nvPr/>
        </p:nvSpPr>
        <p:spPr>
          <a:xfrm>
            <a:off x="777240" y="544068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r>
              <a:rPr lang="en-US" sz="120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sources (Qichacha / Tianyancha / Dow Jones) · deploy the Hermes Agent framework · integrate the payment system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 · company payment data is synthetic; external data sources / Hermes framework / payment hold are pending integration.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A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BA39C"/>
                </a:solidFill>
                <a:latin typeface="Calibri"/>
              </a:rPr>
              <a:t>GOALS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7313F"/>
                </a:solidFill>
                <a:latin typeface="Calibri"/>
              </a:rPr>
              <a:t>Help Legal catch potential laundering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1838F"/>
                </a:solidFill>
                <a:latin typeface="Calibri"/>
              </a:rPr>
              <a:t>Shift from after-the-fact investigation to up-front detection — stop risk before the payment goes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358384" cy="178308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2670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A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651760"/>
            <a:ext cx="4078224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7313F"/>
                </a:solidFill>
                <a:latin typeface="Calibri"/>
              </a:rPr>
              <a:t>Proactive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310128"/>
            <a:ext cx="4764024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71838F"/>
                </a:solidFill>
                <a:latin typeface="Calibri"/>
              </a:rPr>
              <a:t>Flag potential laundering while the payment is in flight — hold risk before payout, not audit it afterward.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377440"/>
            <a:ext cx="5358384" cy="178308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65392" y="2670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A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651760"/>
            <a:ext cx="4078224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7313F"/>
                </a:solidFill>
                <a:latin typeface="Calibri"/>
              </a:rPr>
              <a:t>Focus on high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3310128"/>
            <a:ext cx="4764024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71838F"/>
                </a:solidFill>
                <a:latin typeface="Calibri"/>
              </a:rPr>
              <a:t>Surface the most-worth-reviewing few; spend Legal's limited capacity where it counts.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5358384" cy="178308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59" y="459028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A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572000"/>
            <a:ext cx="4078224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7313F"/>
                </a:solidFill>
                <a:latin typeface="Calibri"/>
              </a:rPr>
              <a:t>Explainable &amp; auditable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230368"/>
            <a:ext cx="4764024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71838F"/>
                </a:solidFill>
                <a:latin typeface="Calibri"/>
              </a:rPr>
              <a:t>Every alert says “why”; tiering and every change are fully logged — stands up to regulators.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4297680"/>
            <a:ext cx="5358384" cy="178308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65392" y="459028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A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572000"/>
            <a:ext cx="4078224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7313F"/>
                </a:solidFill>
                <a:latin typeface="Calibri"/>
              </a:rPr>
              <a:t>Sharper &amp; faster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5230368"/>
            <a:ext cx="4764024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71838F"/>
                </a:solidFill>
                <a:latin typeface="Calibri"/>
              </a:rPr>
              <a:t>AI speeds up evidence-gathering; every review feeds back and keeps improving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811</Words>
  <Application>Microsoft Macintosh PowerPoint</Application>
  <PresentationFormat>宽屏</PresentationFormat>
  <Paragraphs>140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AML Payment Risk System · Legal Edition</dc:title>
  <dc:subject>PptxGenJS Presentation</dc:subject>
  <dc:creator>PptxGenJS</dc:creator>
  <cp:lastModifiedBy>Junzhe JZ4 Xu</cp:lastModifiedBy>
  <cp:revision>6</cp:revision>
  <dcterms:created xsi:type="dcterms:W3CDTF">2026-06-03T06:52:57Z</dcterms:created>
  <dcterms:modified xsi:type="dcterms:W3CDTF">2026-06-03T07:02:21Z</dcterms:modified>
</cp:coreProperties>
</file>