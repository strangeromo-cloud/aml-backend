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65" r:id="rId15"/>
    <p:sldId id="257" r:id="rId3"/>
    <p:sldId id="258" r:id="rId4"/>
    <p:sldId id="259" r:id="rId5"/>
    <p:sldId id="260" r:id="rId6"/>
    <p:sldId id="261" r:id="rId7"/>
    <p:sldId id="263" r:id="rId8"/>
    <p:sldId id="266" r:id="rId16"/>
    <p:sldId id="264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32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2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4912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1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1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095" y="-2377440"/>
            <a:ext cx="5943600" cy="5943600"/>
          </a:xfrm>
          <a:prstGeom prst="ellipse">
            <a:avLst/>
          </a:prstGeom>
          <a:solidFill>
            <a:srgbClr val="1BA39C">
              <a:alpha val="8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9997135" y="2560320"/>
            <a:ext cx="4572000" cy="4572000"/>
          </a:xfrm>
          <a:prstGeom prst="ellipse">
            <a:avLst/>
          </a:prstGeom>
          <a:solidFill>
            <a:srgbClr val="1BA39C">
              <a:alpha val="5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A39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822960" y="1371600"/>
            <a:ext cx="2194560" cy="1005840"/>
          </a:xfrm>
          <a:prstGeom prst="rect">
            <a:avLst/>
          </a:prstGeom>
          <a:solidFill>
            <a:srgbClr val="1BA39C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solidFill>
                  <a:srgbClr val="17313F"/>
                </a:solidFill>
                <a:latin typeface="Calibri" pitchFamily="34" charset="0"/>
                <a:cs typeface="Calibri" pitchFamily="34" charset="-120"/>
              </a:rPr>
              <a:t>Anti</a:t>
            </a:r>
            <a:r>
              <a:rPr lang="en-US" altLang="zh-CN" sz="4000" b="1" dirty="0">
                <a:solidFill>
                  <a:srgbClr val="17313F"/>
                </a:solidFill>
                <a:latin typeface="Calibri" pitchFamily="34" charset="0"/>
                <a:cs typeface="Calibri" pitchFamily="34" charset="-120"/>
              </a:rPr>
              <a:t>-money</a:t>
            </a:r>
            <a:r>
              <a:rPr lang="zh-CN" altLang="en-US" sz="4000" b="1" dirty="0">
                <a:solidFill>
                  <a:srgbClr val="17313F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" altLang="zh-CN" sz="4000" b="1" dirty="0">
                <a:solidFill>
                  <a:srgbClr val="17313F"/>
                </a:solidFill>
                <a:latin typeface="Calibri" pitchFamily="34" charset="0"/>
                <a:cs typeface="Calibri" pitchFamily="34" charset="-120"/>
              </a:rPr>
              <a:t>laundering</a:t>
            </a:r>
            <a:r>
              <a:rPr lang="zh-CN" altLang="en-US" sz="4000" b="1" dirty="0">
                <a:solidFill>
                  <a:srgbClr val="17313F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4000" b="1" dirty="0">
                <a:solidFill>
                  <a:srgbClr val="17313F"/>
                </a:solidFill>
                <a:latin typeface="Calibri" pitchFamily="34" charset="0"/>
                <a:cs typeface="Calibri" pitchFamily="34" charset="-120"/>
              </a:rPr>
              <a:t>System</a:t>
            </a:r>
          </a:p>
        </p:txBody>
      </p:sp>
      <p:sp>
        <p:nvSpPr>
          <p:cNvPr id="7" name="Text 5"/>
          <p:cNvSpPr/>
          <p:nvPr/>
        </p:nvSpPr>
        <p:spPr>
          <a:xfrm>
            <a:off x="841248" y="36118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Single Score to Tiered Alerts + Self-Evolution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41248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zh-CN" sz="14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2026-06-04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A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BA39C"/>
                </a:solidFill>
                <a:latin typeface="Calibri"/>
              </a:rPr>
              <a:t>GOALS &amp;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7313F"/>
                </a:solidFill>
                <a:latin typeface="Calibri"/>
              </a:rPr>
              <a:t>Help Legal catch potential laundering early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1838F"/>
                </a:solidFill>
                <a:latin typeface="Calibri"/>
              </a:rPr>
              <a:t>Shift from after-the-fact investigation to up-front detection — stop risk before the payment goes 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77440"/>
            <a:ext cx="5358384" cy="178308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59" y="2670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BA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2651760"/>
            <a:ext cx="4078224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1">
                <a:solidFill>
                  <a:srgbClr val="17313F"/>
                </a:solidFill>
                <a:latin typeface="Calibri"/>
              </a:rPr>
              <a:t>Proactive detection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310128"/>
            <a:ext cx="4764024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71838F"/>
                </a:solidFill>
                <a:latin typeface="Calibri"/>
              </a:rPr>
              <a:t>Flag potential laundering while the payment is in flight — hold risk before payout, not audit it afterward.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377440"/>
            <a:ext cx="5358384" cy="178308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65392" y="2670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BA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651760"/>
            <a:ext cx="4078224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1">
                <a:solidFill>
                  <a:srgbClr val="17313F"/>
                </a:solidFill>
                <a:latin typeface="Calibri"/>
              </a:rPr>
              <a:t>Focus on high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3310128"/>
            <a:ext cx="4764024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71838F"/>
                </a:solidFill>
                <a:latin typeface="Calibri"/>
              </a:rPr>
              <a:t>Surface the most-worth-reviewing few; spend Legal's limited capacity where it counts.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97680"/>
            <a:ext cx="5358384" cy="178308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59" y="459028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BA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4572000"/>
            <a:ext cx="4078224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1">
                <a:solidFill>
                  <a:srgbClr val="17313F"/>
                </a:solidFill>
                <a:latin typeface="Calibri"/>
              </a:rPr>
              <a:t>Explainable &amp; auditable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5230368"/>
            <a:ext cx="4764024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71838F"/>
                </a:solidFill>
                <a:latin typeface="Calibri"/>
              </a:rPr>
              <a:t>Every alert says “why”; tiering and every change are fully logged — stands up to regulators.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4297680"/>
            <a:ext cx="5358384" cy="178308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65392" y="459028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BA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572000"/>
            <a:ext cx="4078224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1">
                <a:solidFill>
                  <a:srgbClr val="17313F"/>
                </a:solidFill>
                <a:latin typeface="Calibri"/>
              </a:rPr>
              <a:t>Sharper &amp; faster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1968" y="5230368"/>
            <a:ext cx="4764024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71838F"/>
                </a:solidFill>
                <a:latin typeface="Calibri"/>
              </a:rPr>
              <a:t>AI speeds up evidence-gathering; every review feeds back and keeps improving detection.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REALITY WE FACE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rare few among massive payments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10K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49808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/ day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49808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~3.65M per year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5968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4498848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D8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10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17136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laundering cases / year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17136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rate ≈ 1 in 400,000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83296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8266176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22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284464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high-precision rule hits</a:t>
            </a:r>
            <a:endParaRPr lang="en-US" sz="13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real laundering (PPV)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84464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rare industry edge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160520"/>
            <a:ext cx="11091672" cy="1463040"/>
          </a:xfrm>
          <a:prstGeom prst="roundRect">
            <a:avLst>
              <a:gd name="adj" fmla="val 7500"/>
            </a:avLst>
          </a:prstGeom>
          <a:solidFill>
            <a:srgbClr val="102C3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822960" y="43159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468172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Catching every laundering case is neither achievable nor verifiable (fewer than 10 samples a year makes traditional ML unworkable).</a:t>
            </a:r>
            <a:endParaRPr lang="en-US" sz="14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goal: make the limited number Legal can review each day as high-value as possible.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PRODUCT SHIFT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overall score to tiered alerts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074920" cy="4023360"/>
          </a:xfrm>
          <a:prstGeom prst="roundRect">
            <a:avLst>
              <a:gd name="adj" fmla="val 2727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868680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LOGIC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weighted score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40% + Payment 35% + Reasonableness 25%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one 0–100 score, ranked High / Medium / Low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39319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8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6968" y="4224528"/>
            <a:ext cx="45720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signals get diluted by averaging: a payment that hits even one 30%-PPV hard rule is averaged down by normal dimensions — it sinks in the queue and may never be seen.</a:t>
            </a:r>
            <a:endParaRPr lang="en-US" sz="125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3611880"/>
            <a:ext cx="566928" cy="56692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565392" y="1828800"/>
            <a:ext cx="5074920" cy="4023360"/>
          </a:xfrm>
          <a:prstGeom prst="roundRect">
            <a:avLst>
              <a:gd name="adj" fmla="val 2727"/>
            </a:avLst>
          </a:prstGeom>
          <a:solidFill>
            <a:srgbClr val="102C3A"/>
          </a:solidFill>
          <a:ln/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2" name="Text 9"/>
          <p:cNvSpPr/>
          <p:nvPr/>
        </p:nvSpPr>
        <p:spPr>
          <a:xfrm>
            <a:off x="6885432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FORM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885432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alerts (Tier)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885432" y="2926080"/>
            <a:ext cx="868680" cy="502920"/>
          </a:xfrm>
          <a:prstGeom prst="rect">
            <a:avLst/>
          </a:prstGeom>
          <a:solidFill>
            <a:srgbClr val="D84B4B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7882128" y="292608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· review within 24h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6885432" y="3566160"/>
            <a:ext cx="868680" cy="502920"/>
          </a:xfrm>
          <a:prstGeom prst="rect">
            <a:avLst/>
          </a:prstGeom>
          <a:solidFill>
            <a:srgbClr val="C9861A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7882128" y="356616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· review within 3 days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6885432" y="4206240"/>
            <a:ext cx="868680" cy="502920"/>
          </a:xfrm>
          <a:prstGeom prst="rect">
            <a:avLst/>
          </a:prstGeom>
          <a:solidFill>
            <a:srgbClr val="5D8AA8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7882128" y="420624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· batch ranking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6885432" y="48920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F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 reuses the existing scoring logic.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885432" y="5212080"/>
            <a:ext cx="4617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signals jump out of the averaging pool — a hit sets the tier and goes straight to the top.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TIERING RULES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tiers — by level</a:t>
            </a:r>
            <a:r>
              <a:rPr lang="zh-CN" alt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zh-CN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" altLang="zh-CN" sz="3000" b="1" dirty="0">
                <a:solidFill>
                  <a:srgbClr val="FF0000"/>
                </a:solidFill>
                <a:latin typeface="Calibri" pitchFamily="34" charset="0"/>
                <a:cs typeface="Calibri" pitchFamily="34" charset="-120"/>
              </a:rPr>
              <a:t>Tiering requires confirmation</a:t>
            </a:r>
            <a:r>
              <a:rPr lang="en-US" altLang="zh-CN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11296" cy="4160520"/>
          </a:xfrm>
          <a:prstGeom prst="roundRect">
            <a:avLst>
              <a:gd name="adj" fmla="val 3646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822960" y="2103120"/>
            <a:ext cx="868680" cy="566928"/>
          </a:xfrm>
          <a:prstGeom prst="rect">
            <a:avLst/>
          </a:prstGeom>
          <a:solidFill>
            <a:srgbClr val="D84B4B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828800" y="2103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828800" y="246888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within 24h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22960" y="2880360"/>
            <a:ext cx="2962656" cy="0"/>
          </a:xfrm>
          <a:prstGeom prst="line">
            <a:avLst/>
          </a:prstGeom>
          <a:noFill/>
          <a:ln w="12700">
            <a:solidFill>
              <a:srgbClr val="DCE8E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822960" y="2980944"/>
            <a:ext cx="29626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Hits ANY 1 high-precision rule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3611880"/>
            <a:ext cx="287121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/ business country mismatch</a:t>
            </a:r>
            <a:endParaRPr lang="en-US" sz="11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 / invoice-origin mismatch</a:t>
            </a:r>
            <a:endParaRPr lang="en-US" sz="11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scope ≠ category</a:t>
            </a:r>
            <a:endParaRPr lang="en-US" sz="11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Fake-invoice indicators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22960" y="4983480"/>
            <a:ext cx="2962656" cy="868680"/>
          </a:xfrm>
          <a:prstGeom prst="roundRect">
            <a:avLst>
              <a:gd name="adj" fmla="val 10526"/>
            </a:avLst>
          </a:prstGeom>
          <a:solidFill>
            <a:srgbClr val="FBEEEE"/>
          </a:solidFill>
          <a:ln w="12700">
            <a:solidFill>
              <a:srgbClr val="F0C9C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960120" y="5029200"/>
            <a:ext cx="268833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D8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straight to T1: </a:t>
            </a:r>
            <a:r>
              <a:rPr lang="en-US" sz="10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100%-accuracy checks — a single confirmed hit is high-confidence.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38828" y="1828800"/>
            <a:ext cx="3511296" cy="4160520"/>
          </a:xfrm>
          <a:prstGeom prst="roundRect">
            <a:avLst>
              <a:gd name="adj" fmla="val 3646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4613148" y="2103120"/>
            <a:ext cx="868680" cy="566928"/>
          </a:xfrm>
          <a:prstGeom prst="rect">
            <a:avLst/>
          </a:prstGeom>
          <a:solidFill>
            <a:srgbClr val="C9861A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618988" y="2103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618988" y="246888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within 3 days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3148" y="2880360"/>
            <a:ext cx="2962656" cy="0"/>
          </a:xfrm>
          <a:prstGeom prst="line">
            <a:avLst/>
          </a:prstGeom>
          <a:noFill/>
          <a:ln w="12700">
            <a:solidFill>
              <a:srgbClr val="DCE8E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4613148" y="2980944"/>
            <a:ext cx="29626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Vendor-level signal only (no hard hit)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613148" y="3611880"/>
            <a:ext cx="29626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one vendor-level behavioral signal: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04588" y="4023360"/>
            <a:ext cx="287121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Structuring (split payments)</a:t>
            </a:r>
            <a:endParaRPr lang="en-US" sz="1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surge (new vendor)</a:t>
            </a:r>
            <a:endParaRPr lang="en-US" sz="1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high-precision hits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29016" y="1828800"/>
            <a:ext cx="3511296" cy="4160520"/>
          </a:xfrm>
          <a:prstGeom prst="roundRect">
            <a:avLst>
              <a:gd name="adj" fmla="val 3646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8403336" y="2103120"/>
            <a:ext cx="868680" cy="566928"/>
          </a:xfrm>
          <a:prstGeom prst="rect">
            <a:avLst/>
          </a:prstGeom>
          <a:solidFill>
            <a:srgbClr val="5D8AA8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409176" y="2103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409176" y="246888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ranking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403336" y="2880360"/>
            <a:ext cx="2962656" cy="0"/>
          </a:xfrm>
          <a:prstGeom prst="line">
            <a:avLst/>
          </a:prstGeom>
          <a:noFill/>
          <a:ln w="12700">
            <a:solidFill>
              <a:srgbClr val="DCE8E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8403336" y="2980944"/>
            <a:ext cx="29626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 or behavioral hit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8403336" y="3611880"/>
            <a:ext cx="2962656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back to the existing weighted score — Vendor / Payment / Reasonableness — to rank a batch and review the top K.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DETECTS · HOW IT RUNS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entry points, one loop that keeps improving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1463040"/>
          </a:xfrm>
          <a:prstGeom prst="roundRect">
            <a:avLst>
              <a:gd name="adj" fmla="val 75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804672" y="2011680"/>
            <a:ext cx="548640" cy="548640"/>
          </a:xfrm>
          <a:prstGeom prst="ellipse">
            <a:avLst/>
          </a:prstGeom>
          <a:solidFill>
            <a:srgbClr val="1BA39C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1214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99339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A · Payment-level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" y="25786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payment hits a hard rule: country mismatch, fake invoice, business ≠ category…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440680" cy="1463040"/>
          </a:xfrm>
          <a:prstGeom prst="roundRect">
            <a:avLst>
              <a:gd name="adj" fmla="val 75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7"/>
          <p:cNvSpPr/>
          <p:nvPr/>
        </p:nvSpPr>
        <p:spPr>
          <a:xfrm>
            <a:off x="6455664" y="2011680"/>
            <a:ext cx="548640" cy="548640"/>
          </a:xfrm>
          <a:prstGeom prst="ellipse">
            <a:avLst/>
          </a:prstGeom>
          <a:solidFill>
            <a:srgbClr val="C9861A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21214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9752" y="199339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B · Vendor-level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492240" y="25786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only across payments: structuring, payment surges, repeated hits…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548640" y="331012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entries merge into one unified alert list for Legal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2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16052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8016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+ Tier</a:t>
            </a:r>
            <a:endParaRPr lang="en-US" sz="1250" dirty="0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72384" y="4160520"/>
            <a:ext cx="237744" cy="237744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333756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5"/>
          <p:cNvSpPr/>
          <p:nvPr/>
        </p:nvSpPr>
        <p:spPr>
          <a:xfrm>
            <a:off x="352044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1880" y="41605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06908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Investigation</a:t>
            </a:r>
            <a:endParaRPr lang="en-US" sz="125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1304" y="4160520"/>
            <a:ext cx="237744" cy="237744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12648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18"/>
          <p:cNvSpPr/>
          <p:nvPr/>
        </p:nvSpPr>
        <p:spPr>
          <a:xfrm>
            <a:off x="630936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4160520"/>
            <a:ext cx="274320" cy="274320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685800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Decision</a:t>
            </a:r>
            <a:endParaRPr lang="en-US" sz="1250" dirty="0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224" y="4160520"/>
            <a:ext cx="237744" cy="237744"/>
          </a:xfrm>
          <a:prstGeom prst="rect">
            <a:avLst/>
          </a:prstGeom>
        </p:spPr>
      </p:pic>
      <p:sp>
        <p:nvSpPr>
          <p:cNvPr id="30" name="Shape 20"/>
          <p:cNvSpPr/>
          <p:nvPr/>
        </p:nvSpPr>
        <p:spPr>
          <a:xfrm>
            <a:off x="891540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1" name="Shape 21"/>
          <p:cNvSpPr/>
          <p:nvPr/>
        </p:nvSpPr>
        <p:spPr>
          <a:xfrm>
            <a:off x="909828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2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89720" y="4160520"/>
            <a:ext cx="274320" cy="274320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964692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Learning</a:t>
            </a:r>
            <a:endParaRPr lang="en-US" sz="1250" dirty="0"/>
          </a:p>
        </p:txBody>
      </p:sp>
      <p:sp>
        <p:nvSpPr>
          <p:cNvPr id="34" name="Shape 23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4FAFB"/>
          </a:solidFill>
          <a:ln w="15240">
            <a:solidFill>
              <a:srgbClr val="1BA39C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5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2960" y="5212080"/>
            <a:ext cx="411480" cy="411480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1417320" y="502920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loop: </a:t>
            </a:r>
            <a:r>
              <a:rPr lang="en-US" sz="13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Legal review is captured to recalibrate who to look at and how urgently — the system keeps getting sharper.</a:t>
            </a:r>
            <a:endParaRPr lang="en-US" sz="1350" dirty="0"/>
          </a:p>
        </p:txBody>
      </p:sp>
      <p:sp>
        <p:nvSpPr>
          <p:cNvPr id="37" name="Text 25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8" name="Text 26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payment flows through the system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In</a:t>
            </a:r>
            <a:endParaRPr lang="en-US" sz="13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~10K / day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011680" y="2286000"/>
            <a:ext cx="274320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2286000" y="18288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2331720" y="1828800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+ Tier</a:t>
            </a:r>
            <a:endParaRPr lang="en-US" sz="13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entry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977640" y="2286000"/>
            <a:ext cx="24688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/>
          <p:cNvSpPr/>
          <p:nvPr/>
        </p:nvSpPr>
        <p:spPr>
          <a:xfrm>
            <a:off x="4251960" y="1682496"/>
            <a:ext cx="1463040" cy="1207008"/>
          </a:xfrm>
          <a:prstGeom prst="diamond">
            <a:avLst/>
          </a:prstGeom>
          <a:solidFill>
            <a:srgbClr val="FFF6E8"/>
          </a:solidFill>
          <a:ln w="19050">
            <a:solidFill>
              <a:srgbClr val="C9861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4251960" y="1682496"/>
            <a:ext cx="14630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A61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8A61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715000" y="2286000"/>
            <a:ext cx="274320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5440680" y="148132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8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/ T2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89320" y="18288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6035040" y="1828800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Investigation</a:t>
            </a:r>
            <a:endParaRPr lang="en-US" sz="13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pack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680960" y="2286000"/>
            <a:ext cx="24688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8001000" y="1682496"/>
            <a:ext cx="1463040" cy="1207008"/>
          </a:xfrm>
          <a:prstGeom prst="diamond">
            <a:avLst/>
          </a:prstGeom>
          <a:solidFill>
            <a:srgbClr val="FFF6E8"/>
          </a:solidFill>
          <a:ln w="19050">
            <a:solidFill>
              <a:srgbClr val="C9861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8001000" y="1682496"/>
            <a:ext cx="14630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A61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8A61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laundering?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464040" y="2286000"/>
            <a:ext cx="24688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9710928" y="1828800"/>
            <a:ext cx="178308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9756648" y="182880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Evolve &amp; Learn</a:t>
            </a:r>
            <a:endParaRPr lang="en-US" sz="13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· discover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983480" y="2889504"/>
            <a:ext cx="0" cy="539496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5074920" y="2907792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D8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069080" y="3429000"/>
            <a:ext cx="1828800" cy="685800"/>
          </a:xfrm>
          <a:prstGeom prst="roundRect">
            <a:avLst>
              <a:gd name="adj" fmla="val 13333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4114800" y="342900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score &amp; rank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732520" y="2889504"/>
            <a:ext cx="0" cy="539496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8823960" y="29077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2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/ No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772400" y="3429000"/>
            <a:ext cx="1920240" cy="685800"/>
          </a:xfrm>
          <a:prstGeom prst="roundRect">
            <a:avLst>
              <a:gd name="adj" fmla="val 13333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7818120" y="342900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recorded → learning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0602468" y="2743200"/>
            <a:ext cx="0" cy="1591056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Shape 29"/>
          <p:cNvSpPr/>
          <p:nvPr/>
        </p:nvSpPr>
        <p:spPr>
          <a:xfrm>
            <a:off x="9870948" y="4334256"/>
            <a:ext cx="1463040" cy="1207008"/>
          </a:xfrm>
          <a:prstGeom prst="diamond">
            <a:avLst/>
          </a:prstGeom>
          <a:solidFill>
            <a:srgbClr val="FFF6E8"/>
          </a:solidFill>
          <a:ln w="19050">
            <a:solidFill>
              <a:srgbClr val="C9861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/>
          <p:nvPr/>
        </p:nvSpPr>
        <p:spPr>
          <a:xfrm>
            <a:off x="9870948" y="4334256"/>
            <a:ext cx="14630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A61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≥ 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8A61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PPV ok?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870948" y="4937760"/>
            <a:ext cx="0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9646920" y="4553712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680960" y="4617720"/>
            <a:ext cx="1920240" cy="640080"/>
          </a:xfrm>
          <a:prstGeom prst="roundRect">
            <a:avLst>
              <a:gd name="adj" fmla="val 14286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7726680" y="46177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observing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698480" y="539496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2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10602468" y="5541264"/>
            <a:ext cx="0" cy="448056"/>
          </a:xfrm>
          <a:prstGeom prst="line">
            <a:avLst/>
          </a:prstGeom>
          <a:noFill/>
          <a:ln w="21590">
            <a:solidFill>
              <a:srgbClr val="1BA39C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7"/>
          <p:cNvSpPr/>
          <p:nvPr/>
        </p:nvSpPr>
        <p:spPr>
          <a:xfrm>
            <a:off x="3131820" y="5989320"/>
            <a:ext cx="7470648" cy="0"/>
          </a:xfrm>
          <a:prstGeom prst="line">
            <a:avLst/>
          </a:prstGeom>
          <a:noFill/>
          <a:ln w="21590">
            <a:solidFill>
              <a:srgbClr val="1BA39C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Shape 38"/>
          <p:cNvSpPr/>
          <p:nvPr/>
        </p:nvSpPr>
        <p:spPr>
          <a:xfrm>
            <a:off x="3131820" y="2743200"/>
            <a:ext cx="0" cy="3246120"/>
          </a:xfrm>
          <a:prstGeom prst="line">
            <a:avLst/>
          </a:prstGeom>
          <a:noFill/>
          <a:ln w="21590">
            <a:solidFill>
              <a:srgbClr val="1BA39C"/>
            </a:solidFill>
            <a:prstDash val="dash"/>
            <a:head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Text 39"/>
          <p:cNvSpPr/>
          <p:nvPr/>
        </p:nvSpPr>
        <p:spPr>
          <a:xfrm>
            <a:off x="3383280" y="559612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new signal / adjust tier  </a:t>
            </a:r>
            <a:r>
              <a:rPr lang="en-US" sz="11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gated by statistical calibration + human approval.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SPOTLIGHT · SELF-EVOLUTION (HERMES AGENT)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zh-CN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static rules to an evolving assistant</a:t>
            </a:r>
            <a:r>
              <a:rPr lang="zh-CN" altLang="en-US" sz="3000" dirty="0"/>
              <a:t> </a:t>
            </a:r>
            <a:r>
              <a:rPr lang="en-US" altLang="zh-CN" sz="3000" dirty="0"/>
              <a:t>-</a:t>
            </a:r>
            <a:r>
              <a:rPr lang="zh-CN" altLang="en-US" sz="3000" dirty="0"/>
              <a:t> </a:t>
            </a: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tiering stays gated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used to be predefined by Legal from experience; now the agent proposes new hypotheses from accumulated cases.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1BA39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1463040" y="2487168"/>
            <a:ext cx="640080" cy="640080"/>
          </a:xfrm>
          <a:prstGeom prst="ellipse">
            <a:avLst/>
          </a:prstGeom>
          <a:solidFill>
            <a:srgbClr val="1BA39C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1056" y="2615184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Discovers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5836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recurring new patterns</a:t>
            </a:r>
            <a:endParaRPr lang="en-US" sz="1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4096" y="3063240"/>
            <a:ext cx="292608" cy="29260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33756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C9861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8"/>
          <p:cNvSpPr/>
          <p:nvPr/>
        </p:nvSpPr>
        <p:spPr>
          <a:xfrm>
            <a:off x="4251960" y="2487168"/>
            <a:ext cx="640080" cy="640080"/>
          </a:xfrm>
          <a:prstGeom prst="ellipse">
            <a:avLst/>
          </a:prstGeom>
          <a:solidFill>
            <a:srgbClr val="C9861A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9976" y="2615184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Enters Candidacy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344728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marked pending, observe first</a:t>
            </a:r>
            <a:endParaRPr lang="en-US" sz="11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3016" y="3063240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12648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5D8AA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2"/>
          <p:cNvSpPr/>
          <p:nvPr/>
        </p:nvSpPr>
        <p:spPr>
          <a:xfrm>
            <a:off x="7040880" y="2487168"/>
            <a:ext cx="640080" cy="640080"/>
          </a:xfrm>
          <a:prstGeom prst="ellipse">
            <a:avLst/>
          </a:prstGeom>
          <a:solidFill>
            <a:srgbClr val="5D8AA8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8896" y="2615184"/>
            <a:ext cx="384048" cy="38404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21792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Calibration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623620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by real hit rate</a:t>
            </a:r>
            <a:endParaRPr lang="en-US" sz="1100" dirty="0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1936" y="3063240"/>
            <a:ext cx="292608" cy="29260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891540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22875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16"/>
          <p:cNvSpPr/>
          <p:nvPr/>
        </p:nvSpPr>
        <p:spPr>
          <a:xfrm>
            <a:off x="9829800" y="2487168"/>
            <a:ext cx="640080" cy="640080"/>
          </a:xfrm>
          <a:prstGeom prst="ellipse">
            <a:avLst/>
          </a:prstGeom>
          <a:solidFill>
            <a:srgbClr val="22875A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2615184"/>
            <a:ext cx="384048" cy="384048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900684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902512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only after sign-off</a:t>
            </a:r>
            <a:endParaRPr lang="en-US" sz="1100" dirty="0"/>
          </a:p>
        </p:txBody>
      </p:sp>
      <p:sp>
        <p:nvSpPr>
          <p:cNvPr id="28" name="Shape 19"/>
          <p:cNvSpPr/>
          <p:nvPr/>
        </p:nvSpPr>
        <p:spPr>
          <a:xfrm>
            <a:off x="548640" y="452628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FFF6E8"/>
          </a:solidFill>
          <a:ln w="15240">
            <a:solidFill>
              <a:srgbClr val="F0D8A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864608"/>
            <a:ext cx="457200" cy="457200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1508760" y="4617720"/>
            <a:ext cx="9921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C98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bottom line: </a:t>
            </a:r>
            <a:r>
              <a:rPr lang="en-US" sz="13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self-evolution may only propose hypotheses — never silently change alert tiers. Any change affecting tiering must pass auditable statistical calibration + human approval.</a:t>
            </a:r>
            <a:endParaRPr lang="en-US" sz="1350" dirty="0"/>
          </a:p>
        </p:txBody>
      </p:sp>
      <p:sp>
        <p:nvSpPr>
          <p:cNvPr id="31" name="Text 21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32" name="Text 2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206240"/>
            <a:ext cx="5486400" cy="5486400"/>
          </a:xfrm>
          <a:prstGeom prst="ellipse">
            <a:avLst/>
          </a:prstGeom>
          <a:solidFill>
            <a:srgbClr val="1BA39C">
              <a:alpha val="6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SENTENCE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the high-value alerts, and keep getting sharper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201168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alerts replace the overall score (strong signals no longer diluted), two entry points cover single- and cross-payment tactics, AI speeds up investigation, and self-evolution surfaces new risks — with every tiering change inside an auditable gate of statistical calibration + human approval.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3566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LEGAL TEAM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995928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32688" y="3931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ranked list — no more needle in a haystack</a:t>
            </a:r>
            <a:endParaRPr lang="en-US" sz="12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99592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56248" y="3931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comes with a 'why', easy to explain</a:t>
            </a:r>
            <a:endParaRPr lang="en-US" sz="12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99432"/>
            <a:ext cx="274320" cy="274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32688" y="4535424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&amp; auditable — stands up to regulators</a:t>
            </a:r>
            <a:endParaRPr lang="en-US" sz="12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4599432"/>
            <a:ext cx="274320" cy="2743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56248" y="4535424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review you do makes the system sharper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548640" y="5440680"/>
            <a:ext cx="11091672" cy="566928"/>
          </a:xfrm>
          <a:prstGeom prst="roundRect">
            <a:avLst>
              <a:gd name="adj" fmla="val 16129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0"/>
          <p:cNvSpPr/>
          <p:nvPr/>
        </p:nvSpPr>
        <p:spPr>
          <a:xfrm>
            <a:off x="777240" y="5440680"/>
            <a:ext cx="10698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r>
              <a:rPr lang="en-US" sz="120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sources (Qichacha / Tianyancha / Dow Jones) · deploy the Hermes Agent framework · integrate the payment system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548640" y="6263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demo · company payment data is synthetic; external data sources / Hermes framework / payment hold are pending integration.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A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BA39C"/>
                </a:solidFill>
                <a:latin typeface="Calibri"/>
              </a:rPr>
              <a:t>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7313F"/>
                </a:solidFill>
                <a:latin typeface="Calibri"/>
              </a:rPr>
              <a:t>Two evolution engines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00200"/>
            <a:ext cx="109728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1838F"/>
                </a:solidFill>
                <a:latin typeface="Calibri"/>
              </a:rPr>
              <a:t>The system evolves in two directions — both behind an auditable gate.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A39C"/>
                </a:solidFill>
                <a:latin typeface="Calibri"/>
              </a:rPr>
              <a:t>Loop A · Investigations get more accurate &amp; complete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87168"/>
            <a:ext cx="3291840" cy="822960"/>
          </a:xfrm>
          <a:prstGeom prst="roundRect">
            <a:avLst>
              <a:gd name="adj" fmla="val 12000"/>
            </a:avLst>
          </a:prstGeom>
          <a:solidFill>
            <a:srgbClr val="F4FAFB"/>
          </a:solidFill>
          <a:ln w="12700">
            <a:solidFill>
              <a:srgbClr val="DC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487168"/>
            <a:ext cx="3182112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7313F"/>
                </a:solidFill>
                <a:latin typeface="Calibri"/>
              </a:rPr>
              <a:t>AI investigation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0207" y="2697480"/>
            <a:ext cx="384048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9FB6C0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487168"/>
            <a:ext cx="3291840" cy="822960"/>
          </a:xfrm>
          <a:prstGeom prst="roundRect">
            <a:avLst>
              <a:gd name="adj" fmla="val 12000"/>
            </a:avLst>
          </a:prstGeom>
          <a:solidFill>
            <a:srgbClr val="F4FAFB"/>
          </a:solidFill>
          <a:ln w="12700">
            <a:solidFill>
              <a:srgbClr val="DC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8264" y="2487168"/>
            <a:ext cx="3182112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7313F"/>
                </a:solidFill>
                <a:latin typeface="Calibri"/>
              </a:rPr>
              <a:t>Legal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53527" y="2697480"/>
            <a:ext cx="384048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9FB6C0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2487168"/>
            <a:ext cx="3291840" cy="822960"/>
          </a:xfrm>
          <a:prstGeom prst="roundRect">
            <a:avLst>
              <a:gd name="adj" fmla="val 12000"/>
            </a:avLst>
          </a:prstGeom>
          <a:solidFill>
            <a:srgbClr val="F4FAFB"/>
          </a:solidFill>
          <a:ln w="12700">
            <a:solidFill>
              <a:srgbClr val="DC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01583" y="2487168"/>
            <a:ext cx="3182112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7313F"/>
                </a:solidFill>
                <a:latin typeface="Calibri"/>
              </a:rPr>
              <a:t>Update investigation playbook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419856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4FAFB"/>
          </a:solidFill>
          <a:ln w="15240">
            <a:solidFill>
              <a:srgbClr val="1BA39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419856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BA39C"/>
                </a:solidFill>
                <a:latin typeface="Calibri"/>
              </a:rPr>
              <a:t>Feedback: </a:t>
            </a:r>
            <a:r>
              <a:rPr sz="1250" b="0">
                <a:solidFill>
                  <a:srgbClr val="17313F"/>
                </a:solidFill>
                <a:latin typeface="Calibri"/>
              </a:rPr>
              <a:t>each review's misses become reusable playbooks — next time digs more accurately and completely.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2452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C9861A"/>
                </a:solidFill>
                <a:latin typeface="Calibri"/>
              </a:rPr>
              <a:t>Loop B · Keep discovering new T1 / T2 rules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562856"/>
            <a:ext cx="2331720" cy="822960"/>
          </a:xfrm>
          <a:prstGeom prst="roundRect">
            <a:avLst>
              <a:gd name="adj" fmla="val 12000"/>
            </a:avLst>
          </a:prstGeom>
          <a:solidFill>
            <a:srgbClr val="F4FAFB"/>
          </a:solidFill>
          <a:ln w="12700">
            <a:solidFill>
              <a:srgbClr val="DC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4562856"/>
            <a:ext cx="2221991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7313F"/>
                </a:solidFill>
                <a:latin typeface="Calibri"/>
              </a:rPr>
              <a:t>Agent mines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4773168"/>
            <a:ext cx="384048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9FB6C0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83280" y="4562856"/>
            <a:ext cx="2331720" cy="822960"/>
          </a:xfrm>
          <a:prstGeom prst="roundRect">
            <a:avLst>
              <a:gd name="adj" fmla="val 12000"/>
            </a:avLst>
          </a:prstGeom>
          <a:solidFill>
            <a:srgbClr val="F4FAFB"/>
          </a:solidFill>
          <a:ln w="12700">
            <a:solidFill>
              <a:srgbClr val="DC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38144" y="4562856"/>
            <a:ext cx="2221991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7313F"/>
                </a:solidFill>
                <a:latin typeface="Calibri"/>
              </a:rPr>
              <a:t>PPV calibration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4773168"/>
            <a:ext cx="384048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9FB6C0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80760" y="4562856"/>
            <a:ext cx="2331720" cy="822960"/>
          </a:xfrm>
          <a:prstGeom prst="roundRect">
            <a:avLst>
              <a:gd name="adj" fmla="val 12000"/>
            </a:avLst>
          </a:prstGeom>
          <a:solidFill>
            <a:srgbClr val="F4FAFB"/>
          </a:solidFill>
          <a:ln w="12700">
            <a:solidFill>
              <a:srgbClr val="DC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35624" y="4562856"/>
            <a:ext cx="2221991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7313F"/>
                </a:solidFill>
                <a:latin typeface="Calibri"/>
              </a:rPr>
              <a:t>Human approval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773168"/>
            <a:ext cx="384048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9FB6C0"/>
                </a:solidFill>
                <a:latin typeface="Calibr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78240" y="4562856"/>
            <a:ext cx="2331720" cy="822960"/>
          </a:xfrm>
          <a:prstGeom prst="roundRect">
            <a:avLst>
              <a:gd name="adj" fmla="val 12000"/>
            </a:avLst>
          </a:prstGeom>
          <a:solidFill>
            <a:srgbClr val="F4FAFB"/>
          </a:solidFill>
          <a:ln w="12700">
            <a:solidFill>
              <a:srgbClr val="DC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33104" y="4562856"/>
            <a:ext cx="2221991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7313F"/>
                </a:solidFill>
                <a:latin typeface="Calibri"/>
              </a:rPr>
              <a:t>New T1 / T2 rule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495544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4FAFB"/>
          </a:solidFill>
          <a:ln w="15240">
            <a:solidFill>
              <a:srgbClr val="C986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495544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C9861A"/>
                </a:solidFill>
                <a:latin typeface="Calibri"/>
              </a:rPr>
              <a:t>Gate: </a:t>
            </a:r>
            <a:r>
              <a:rPr sz="1250" b="0">
                <a:solidFill>
                  <a:srgbClr val="17313F"/>
                </a:solidFill>
                <a:latin typeface="Calibri"/>
              </a:rPr>
              <a:t>the agent only proposes candidates; they go live only after they prove out + sign-off — evolution stays gated.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811</Words>
  <Application>Microsoft Macintosh PowerPoint</Application>
  <PresentationFormat>宽屏</PresentationFormat>
  <Paragraphs>140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AML Payment Risk System · Legal Edition</dc:title>
  <dc:subject>PptxGenJS Presentation</dc:subject>
  <dc:creator>PptxGenJS</dc:creator>
  <cp:lastModifiedBy>Junzhe JZ4 Xu</cp:lastModifiedBy>
  <cp:revision>6</cp:revision>
  <dcterms:created xsi:type="dcterms:W3CDTF">2026-06-03T06:52:57Z</dcterms:created>
  <dcterms:modified xsi:type="dcterms:W3CDTF">2026-06-03T07:02:21Z</dcterms:modified>
</cp:coreProperties>
</file>