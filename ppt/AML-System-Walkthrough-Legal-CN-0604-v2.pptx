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65" r:id="rId15"/>
    <p:sldId id="257" r:id="rId3"/>
    <p:sldId id="258" r:id="rId4"/>
    <p:sldId id="259" r:id="rId5"/>
    <p:sldId id="260" r:id="rId6"/>
    <p:sldId id="261" r:id="rId7"/>
    <p:sldId id="263" r:id="rId8"/>
    <p:sldId id="266" r:id="rId16"/>
    <p:sldId id="264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32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2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79633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1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image1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095" y="-2377440"/>
            <a:ext cx="5943600" cy="5943600"/>
          </a:xfrm>
          <a:prstGeom prst="ellipse">
            <a:avLst/>
          </a:prstGeom>
          <a:solidFill>
            <a:srgbClr val="1BA39C">
              <a:alpha val="8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9997135" y="2560320"/>
            <a:ext cx="4572000" cy="4572000"/>
          </a:xfrm>
          <a:prstGeom prst="ellipse">
            <a:avLst/>
          </a:prstGeom>
          <a:solidFill>
            <a:srgbClr val="1BA39C">
              <a:alpha val="5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A39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822960" y="1371600"/>
            <a:ext cx="2194560" cy="1005840"/>
          </a:xfrm>
          <a:prstGeom prst="rect">
            <a:avLst/>
          </a:prstGeom>
          <a:solidFill>
            <a:srgbClr val="1BA39C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</a:t>
            </a:r>
            <a:r>
              <a:rPr lang="zh-CN" altLang="en-US" sz="44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反洗钱</a:t>
            </a:r>
            <a:r>
              <a:rPr lang="en-US" sz="4400" b="1" dirty="0" err="1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41248" y="363931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从「整体评分」到「分级告警 + 自我进化」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41248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zh-CN" sz="14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2026-06-04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A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BA39C"/>
                </a:solidFill>
                <a:latin typeface="Microsoft YaHei"/>
              </a:rPr>
              <a:t>目标与收益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7313F"/>
                </a:solidFill>
                <a:latin typeface="Microsoft YaHei"/>
              </a:rPr>
              <a:t>让法务前置发现潜在洗钱行为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1838F"/>
                </a:solidFill>
                <a:latin typeface="Microsoft YaHei"/>
              </a:rPr>
              <a:t>从「事后追查」转向「事前识别」—— 在付款出账前把风险拦下来。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77440"/>
            <a:ext cx="5358384" cy="178308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59" y="2670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BA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2651760"/>
            <a:ext cx="4078224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1">
                <a:solidFill>
                  <a:srgbClr val="17313F"/>
                </a:solidFill>
                <a:latin typeface="Microsoft YaHei"/>
              </a:rPr>
              <a:t>前置识别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310128"/>
            <a:ext cx="4764024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71838F"/>
                </a:solidFill>
                <a:latin typeface="Microsoft YaHei"/>
              </a:rPr>
              <a:t>付款进行中即识别潜在洗钱，把风险拦在出款前，而非事后审计。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377440"/>
            <a:ext cx="5358384" cy="178308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65392" y="2670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BA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651760"/>
            <a:ext cx="4078224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1">
                <a:solidFill>
                  <a:srgbClr val="17313F"/>
                </a:solidFill>
                <a:latin typeface="Microsoft YaHei"/>
              </a:rPr>
              <a:t>聚焦高价值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3310128"/>
            <a:ext cx="4764024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71838F"/>
                </a:solidFill>
                <a:latin typeface="Microsoft YaHei"/>
              </a:rPr>
              <a:t>海量付款里把最该看的顶到前面，法务有限产能用在刀刃上。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97680"/>
            <a:ext cx="5358384" cy="178308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59" y="459028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BA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4572000"/>
            <a:ext cx="4078224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1">
                <a:solidFill>
                  <a:srgbClr val="17313F"/>
                </a:solidFill>
                <a:latin typeface="Microsoft YaHei"/>
              </a:rPr>
              <a:t>可解释 · 可审计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5230368"/>
            <a:ext cx="4764024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71838F"/>
                </a:solidFill>
                <a:latin typeface="Microsoft YaHei"/>
              </a:rPr>
              <a:t>每个告警都说得清「为什么」，分级与变更全程留痕，经得起监管追问。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4297680"/>
            <a:ext cx="5358384" cy="178308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65392" y="459028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BA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572000"/>
            <a:ext cx="4078224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1">
                <a:solidFill>
                  <a:srgbClr val="17313F"/>
                </a:solidFill>
                <a:latin typeface="Microsoft YaHei"/>
              </a:rPr>
              <a:t>越用越准 · 提效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1968" y="5230368"/>
            <a:ext cx="4764024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71838F"/>
                </a:solidFill>
                <a:latin typeface="Microsoft YaHei"/>
              </a:rPr>
              <a:t>AI 调查取证提效；每次复核反哺系统，识别能力持续提升。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我们面对的现实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海量付款里，找极少数的洗钱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1 万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49808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笔付款 / 每天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49808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全年约 365 万笔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15968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4498848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D84B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10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17136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起真实洗钱 / 每年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17136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阳性率约 1/40 万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83296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8266176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2287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30%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284464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高精度规则命中后</a:t>
            </a:r>
            <a:endParaRPr lang="en-US" sz="13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确实是洗钱 (PPV)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84464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行业稀缺优势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160520"/>
            <a:ext cx="11091672" cy="1463040"/>
          </a:xfrm>
          <a:prstGeom prst="roundRect">
            <a:avLst>
              <a:gd name="adj" fmla="val 7500"/>
            </a:avLst>
          </a:prstGeom>
          <a:solidFill>
            <a:srgbClr val="102C3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822960" y="43159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7B7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468172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DDEB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做不到、也无法验证「识别所有洗钱」（一年凑不出 10 个样本，传统机器学习不可行）。</a:t>
            </a:r>
            <a:endParaRPr lang="en-US" sz="14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37B7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目标改为：让法务每天能审的有限数量，做到含金量最高。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产品形态的核心转变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从「算一个总分」到「分级告警」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074920" cy="4023360"/>
          </a:xfrm>
          <a:prstGeom prst="roundRect">
            <a:avLst>
              <a:gd name="adj" fmla="val 2727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868680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原有逻辑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整体加权评分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供应商分 × 40% + 付款分 × 35% + 合理性 × 25%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算一个 0–100 总分，按高/中/低排序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39319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84B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6968" y="4224528"/>
            <a:ext cx="45720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强信号被「平均」稀释：一笔哪怕只命中 1 条 30% 命中率硬规则的付款，被其它正常维度一平均就沉底、可能没人看。</a:t>
            </a:r>
            <a:endParaRPr lang="en-US" sz="125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3611880"/>
            <a:ext cx="566928" cy="56692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565392" y="1828800"/>
            <a:ext cx="5074920" cy="4023360"/>
          </a:xfrm>
          <a:prstGeom prst="roundRect">
            <a:avLst>
              <a:gd name="adj" fmla="val 2727"/>
            </a:avLst>
          </a:prstGeom>
          <a:solidFill>
            <a:srgbClr val="102C3A"/>
          </a:solidFill>
          <a:ln/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2" name="Text 9"/>
          <p:cNvSpPr/>
          <p:nvPr/>
        </p:nvSpPr>
        <p:spPr>
          <a:xfrm>
            <a:off x="6885432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37B7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新形态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885432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分级告警 (Tier)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885432" y="2926080"/>
            <a:ext cx="868680" cy="502920"/>
          </a:xfrm>
          <a:prstGeom prst="rect">
            <a:avLst/>
          </a:prstGeom>
          <a:solidFill>
            <a:srgbClr val="D84B4B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7882128" y="292608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DDEB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紧急 · 24 小时内复核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6885432" y="3566160"/>
            <a:ext cx="868680" cy="502920"/>
          </a:xfrm>
          <a:prstGeom prst="rect">
            <a:avLst/>
          </a:prstGeom>
          <a:solidFill>
            <a:srgbClr val="C9861A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7882128" y="356616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DDEB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 · 3 天内复核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6885432" y="4206240"/>
            <a:ext cx="868680" cy="502920"/>
          </a:xfrm>
          <a:prstGeom prst="rect">
            <a:avLst/>
          </a:prstGeom>
          <a:solidFill>
            <a:srgbClr val="5D8AA8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7882128" y="420624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DDEB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 · 批量排序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6885432" y="48920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FB2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 复用原有评分逻辑。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885432" y="5212080"/>
            <a:ext cx="4617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37B7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强信号「跳出」平均池，命中即定级、直接置顶。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分级规则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三个等级：逐级说明</a:t>
            </a:r>
            <a:r>
              <a:rPr lang="zh-CN" alt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zh-CN" altLang="en-US" sz="3000" b="1" dirty="0">
                <a:solidFill>
                  <a:srgbClr val="FF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需要确认分级</a:t>
            </a:r>
            <a:r>
              <a:rPr lang="zh-CN" alt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11296" cy="4160520"/>
          </a:xfrm>
          <a:prstGeom prst="roundRect">
            <a:avLst>
              <a:gd name="adj" fmla="val 3646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822960" y="2103120"/>
            <a:ext cx="868680" cy="566928"/>
          </a:xfrm>
          <a:prstGeom prst="rect">
            <a:avLst/>
          </a:prstGeom>
          <a:solidFill>
            <a:srgbClr val="D84B4B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828800" y="21031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紧急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828800" y="2487168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 小时内复核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2880360"/>
            <a:ext cx="2962656" cy="0"/>
          </a:xfrm>
          <a:prstGeom prst="line">
            <a:avLst/>
          </a:prstGeom>
          <a:noFill/>
          <a:ln w="12700">
            <a:solidFill>
              <a:srgbClr val="DCE8E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822960" y="2980944"/>
            <a:ext cx="29626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命中任意 1 条高精度规则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32688" y="3611880"/>
            <a:ext cx="285292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银行 / 营业地国家不一致</a:t>
            </a:r>
            <a:endParaRPr lang="en-US" sz="120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付款方 / 发票来源国不一致</a:t>
            </a:r>
            <a:endParaRPr lang="en-US" sz="120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主营业务 ≠ 采购品类</a:t>
            </a:r>
            <a:endParaRPr lang="en-US" sz="120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虚假发票特征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4983480"/>
            <a:ext cx="2962656" cy="868680"/>
          </a:xfrm>
          <a:prstGeom prst="roundRect">
            <a:avLst>
              <a:gd name="adj" fmla="val 10526"/>
            </a:avLst>
          </a:prstGeom>
          <a:solidFill>
            <a:srgbClr val="FBEEEE"/>
          </a:solidFill>
          <a:ln w="12700">
            <a:solidFill>
              <a:srgbClr val="F0C9C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960120" y="5029200"/>
            <a:ext cx="268833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D84B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为何直接 T1：</a:t>
            </a:r>
            <a:r>
              <a:rPr lang="en-US" sz="110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准确率 100% 的确定性校验，单条命中即高置信。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38828" y="1828800"/>
            <a:ext cx="3511296" cy="4160520"/>
          </a:xfrm>
          <a:prstGeom prst="roundRect">
            <a:avLst>
              <a:gd name="adj" fmla="val 3646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4613148" y="2103120"/>
            <a:ext cx="868680" cy="566928"/>
          </a:xfrm>
          <a:prstGeom prst="rect">
            <a:avLst/>
          </a:prstGeom>
          <a:solidFill>
            <a:srgbClr val="C9861A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618988" y="21031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618988" y="2487168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天内复核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13148" y="2880360"/>
            <a:ext cx="2962656" cy="0"/>
          </a:xfrm>
          <a:prstGeom prst="line">
            <a:avLst/>
          </a:prstGeom>
          <a:noFill/>
          <a:ln w="12700">
            <a:solidFill>
              <a:srgbClr val="DCE8E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4613148" y="2980944"/>
            <a:ext cx="29626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仅命中供应商级信号（无硬规则命中）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13148" y="3611880"/>
            <a:ext cx="29626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命中以下任一供应商级行为信号：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22876" y="4023360"/>
            <a:ext cx="285292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拆分付款（化整为零）</a:t>
            </a:r>
            <a:endParaRPr lang="en-US" sz="125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付款突增（新供应商）</a:t>
            </a:r>
            <a:endParaRPr lang="en-US" sz="125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高精度规则多次命中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129016" y="1828800"/>
            <a:ext cx="3511296" cy="4160520"/>
          </a:xfrm>
          <a:prstGeom prst="roundRect">
            <a:avLst>
              <a:gd name="adj" fmla="val 3646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8403336" y="2103120"/>
            <a:ext cx="868680" cy="566928"/>
          </a:xfrm>
          <a:prstGeom prst="rect">
            <a:avLst/>
          </a:prstGeom>
          <a:solidFill>
            <a:srgbClr val="5D8AA8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409176" y="21031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409176" y="2487168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批量排序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403336" y="2880360"/>
            <a:ext cx="2962656" cy="0"/>
          </a:xfrm>
          <a:prstGeom prst="line">
            <a:avLst/>
          </a:prstGeom>
          <a:noFill/>
          <a:ln w="12700">
            <a:solidFill>
              <a:srgbClr val="DCE8E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8403336" y="2980944"/>
            <a:ext cx="29626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高精度 / 行为均未命中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403336" y="3611880"/>
            <a:ext cx="2962656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回落到原有加权评分（供应商分 / 付款分 / 合理性），批量排序后取 Top K 复核。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怎么发现 · 怎么运转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两个入口，一个越用越准的闭环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0680" cy="1463040"/>
          </a:xfrm>
          <a:prstGeom prst="roundRect">
            <a:avLst>
              <a:gd name="adj" fmla="val 75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804672" y="2011680"/>
            <a:ext cx="548640" cy="548640"/>
          </a:xfrm>
          <a:prstGeom prst="ellipse">
            <a:avLst/>
          </a:prstGeom>
          <a:solidFill>
            <a:srgbClr val="1BA39C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1214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99339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 A · 付款级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1248" y="25786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单笔命中硬规则：国家不一致、虚假发票、业务 ≠ 品类…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440680" cy="1463040"/>
          </a:xfrm>
          <a:prstGeom prst="roundRect">
            <a:avLst>
              <a:gd name="adj" fmla="val 75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7"/>
          <p:cNvSpPr/>
          <p:nvPr/>
        </p:nvSpPr>
        <p:spPr>
          <a:xfrm>
            <a:off x="6455664" y="2011680"/>
            <a:ext cx="548640" cy="548640"/>
          </a:xfrm>
          <a:prstGeom prst="ellipse">
            <a:avLst/>
          </a:prstGeom>
          <a:solidFill>
            <a:srgbClr val="C9861A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212140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9752" y="199339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 B · 供应商级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492240" y="25786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聚合多笔才看得出：拆分付款、付款突增、多次命中…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548640" y="331012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两入口合并成法务的一份统一告警清单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2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16052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8016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 + 定级</a:t>
            </a:r>
            <a:endParaRPr lang="en-US" sz="1300" dirty="0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72384" y="4160520"/>
            <a:ext cx="237744" cy="237744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333756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5"/>
          <p:cNvSpPr/>
          <p:nvPr/>
        </p:nvSpPr>
        <p:spPr>
          <a:xfrm>
            <a:off x="352044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1880" y="41605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06908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调查</a:t>
            </a:r>
            <a:endParaRPr lang="en-US" sz="130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1304" y="4160520"/>
            <a:ext cx="237744" cy="237744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12648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18"/>
          <p:cNvSpPr/>
          <p:nvPr/>
        </p:nvSpPr>
        <p:spPr>
          <a:xfrm>
            <a:off x="630936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4160520"/>
            <a:ext cx="274320" cy="274320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685800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法务裁决</a:t>
            </a:r>
            <a:endParaRPr lang="en-US" sz="1300" dirty="0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224" y="4160520"/>
            <a:ext cx="237744" cy="237744"/>
          </a:xfrm>
          <a:prstGeom prst="rect">
            <a:avLst/>
          </a:prstGeom>
        </p:spPr>
      </p:pic>
      <p:sp>
        <p:nvSpPr>
          <p:cNvPr id="30" name="Shape 20"/>
          <p:cNvSpPr/>
          <p:nvPr/>
        </p:nvSpPr>
        <p:spPr>
          <a:xfrm>
            <a:off x="891540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1" name="Shape 21"/>
          <p:cNvSpPr/>
          <p:nvPr/>
        </p:nvSpPr>
        <p:spPr>
          <a:xfrm>
            <a:off x="909828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2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89720" y="4160520"/>
            <a:ext cx="274320" cy="274320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964692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持续学习</a:t>
            </a:r>
            <a:endParaRPr lang="en-US" sz="1300" dirty="0"/>
          </a:p>
        </p:txBody>
      </p:sp>
      <p:sp>
        <p:nvSpPr>
          <p:cNvPr id="34" name="Shape 23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4FAFB"/>
          </a:solidFill>
          <a:ln w="15240">
            <a:solidFill>
              <a:srgbClr val="1BA39C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5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2960" y="5212080"/>
            <a:ext cx="411480" cy="411480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1417320" y="502920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回流校准：</a:t>
            </a:r>
            <a:r>
              <a:rPr lang="en-US" sz="13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法务每一次复核都被结构化沉淀，反过来校准「该看谁、多急」—— 系统越用越准。</a:t>
            </a:r>
            <a:endParaRPr lang="en-US" sz="1350" dirty="0"/>
          </a:p>
        </p:txBody>
      </p:sp>
      <p:sp>
        <p:nvSpPr>
          <p:cNvPr id="37" name="Text 25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" dirty="0"/>
          </a:p>
        </p:txBody>
      </p:sp>
      <p:sp>
        <p:nvSpPr>
          <p:cNvPr id="38" name="Text 26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端到端流程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一笔付款在系统中的流转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订单流入</a:t>
            </a:r>
            <a:endParaRPr lang="en-US" sz="13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 万 / 天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011680" y="2286000"/>
            <a:ext cx="274320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2286000" y="18288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2331720" y="1828800"/>
            <a:ext cx="1600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 + 分层</a:t>
            </a:r>
            <a:endParaRPr lang="en-US" sz="13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双入口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977640" y="2286000"/>
            <a:ext cx="24688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/>
          <p:cNvSpPr/>
          <p:nvPr/>
        </p:nvSpPr>
        <p:spPr>
          <a:xfrm>
            <a:off x="4251960" y="1682496"/>
            <a:ext cx="1463040" cy="1207008"/>
          </a:xfrm>
          <a:prstGeom prst="diamond">
            <a:avLst/>
          </a:prstGeom>
          <a:solidFill>
            <a:srgbClr val="FFF6E8"/>
          </a:solidFill>
          <a:ln w="19050">
            <a:solidFill>
              <a:srgbClr val="C9861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4251960" y="1682496"/>
            <a:ext cx="14630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A61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8A61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等级？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715000" y="2286000"/>
            <a:ext cx="274320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5440680" y="148132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84B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 / T2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89320" y="18288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6035040" y="1828800"/>
            <a:ext cx="1600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调查</a:t>
            </a:r>
            <a:endParaRPr lang="en-US" sz="13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生成证据包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680960" y="2286000"/>
            <a:ext cx="24688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8001000" y="1682496"/>
            <a:ext cx="1463040" cy="1207008"/>
          </a:xfrm>
          <a:prstGeom prst="diamond">
            <a:avLst/>
          </a:prstGeom>
          <a:solidFill>
            <a:srgbClr val="FFF6E8"/>
          </a:solidFill>
          <a:ln w="19050">
            <a:solidFill>
              <a:srgbClr val="C9861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8001000" y="1682496"/>
            <a:ext cx="14630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A61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是否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8A61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洗钱？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464040" y="2286000"/>
            <a:ext cx="24688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9710928" y="1828800"/>
            <a:ext cx="178308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9756648" y="182880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进化与学习</a:t>
            </a:r>
            <a:endParaRPr lang="en-US" sz="13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校准 · 发现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983480" y="2889504"/>
            <a:ext cx="0" cy="539496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5074920" y="2907792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D8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069080" y="3429000"/>
            <a:ext cx="1828800" cy="685800"/>
          </a:xfrm>
          <a:prstGeom prst="roundRect">
            <a:avLst>
              <a:gd name="adj" fmla="val 13333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4114800" y="342900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批量评分排序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732520" y="2889504"/>
            <a:ext cx="0" cy="539496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8796528" y="29077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287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 / 否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772400" y="3429000"/>
            <a:ext cx="1920240" cy="685800"/>
          </a:xfrm>
          <a:prstGeom prst="roundRect">
            <a:avLst>
              <a:gd name="adj" fmla="val 13333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7818120" y="342900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记录结论 → 学习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0602468" y="2743200"/>
            <a:ext cx="0" cy="1591056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Shape 29"/>
          <p:cNvSpPr/>
          <p:nvPr/>
        </p:nvSpPr>
        <p:spPr>
          <a:xfrm>
            <a:off x="9870948" y="4334256"/>
            <a:ext cx="1463040" cy="1207008"/>
          </a:xfrm>
          <a:prstGeom prst="diamond">
            <a:avLst/>
          </a:prstGeom>
          <a:solidFill>
            <a:srgbClr val="FFF6E8"/>
          </a:solidFill>
          <a:ln w="19050">
            <a:solidFill>
              <a:srgbClr val="C9861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/>
          <p:nvPr/>
        </p:nvSpPr>
        <p:spPr>
          <a:xfrm>
            <a:off x="9870948" y="4334256"/>
            <a:ext cx="14630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A61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 ≥ 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8A61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且 PPV 达标？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870948" y="4937760"/>
            <a:ext cx="0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9601200" y="4553712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680960" y="4617720"/>
            <a:ext cx="1920240" cy="640080"/>
          </a:xfrm>
          <a:prstGeom prst="roundRect">
            <a:avLst>
              <a:gd name="adj" fmla="val 14286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blurRad="114300" dist="38100" dir="8100000" algn="bl" rotWithShape="0">
              <a:srgbClr val="0B1F2A">
                <a:alpha val="1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7726680" y="46177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继续观察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698480" y="539496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287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10602468" y="5541264"/>
            <a:ext cx="0" cy="448056"/>
          </a:xfrm>
          <a:prstGeom prst="line">
            <a:avLst/>
          </a:prstGeom>
          <a:noFill/>
          <a:ln w="21590">
            <a:solidFill>
              <a:srgbClr val="1BA39C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7"/>
          <p:cNvSpPr/>
          <p:nvPr/>
        </p:nvSpPr>
        <p:spPr>
          <a:xfrm>
            <a:off x="3131820" y="5989320"/>
            <a:ext cx="7470648" cy="0"/>
          </a:xfrm>
          <a:prstGeom prst="line">
            <a:avLst/>
          </a:prstGeom>
          <a:noFill/>
          <a:ln w="21590">
            <a:solidFill>
              <a:srgbClr val="1BA39C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Shape 38"/>
          <p:cNvSpPr/>
          <p:nvPr/>
        </p:nvSpPr>
        <p:spPr>
          <a:xfrm>
            <a:off x="3131820" y="2743200"/>
            <a:ext cx="0" cy="3246120"/>
          </a:xfrm>
          <a:prstGeom prst="line">
            <a:avLst/>
          </a:prstGeom>
          <a:noFill/>
          <a:ln w="21590">
            <a:solidFill>
              <a:srgbClr val="1BA39C"/>
            </a:solidFill>
            <a:prstDash val="dash"/>
            <a:head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Text 39"/>
          <p:cNvSpPr/>
          <p:nvPr/>
        </p:nvSpPr>
        <p:spPr>
          <a:xfrm>
            <a:off x="3383280" y="55961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新信号转正 / 调整分层  </a:t>
            </a:r>
            <a:r>
              <a:rPr lang="en-US" sz="11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 受统计校准 + 人工审批把关。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重点创新 · 自我进化（Hermes Agent）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zh-CN" sz="3000" b="1" dirty="0" err="1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从「静态规则」走向「会进化的助手</a:t>
            </a:r>
            <a:r>
              <a:rPr lang="en-US" altLang="zh-CN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</a:t>
            </a: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，但分级仍需把关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过去信号全靠法务凭经验预先定义；现在 Agent 从积累的案例中主动提出新假设。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1BA39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1463040" y="2487168"/>
            <a:ext cx="640080" cy="640080"/>
          </a:xfrm>
          <a:prstGeom prst="ellipse">
            <a:avLst/>
          </a:prstGeom>
          <a:solidFill>
            <a:srgbClr val="1BA39C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1056" y="2615184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发现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5836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学出反复出现的新模式</a:t>
            </a:r>
            <a:endParaRPr lang="en-US" sz="11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4096" y="3063240"/>
            <a:ext cx="292608" cy="29260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33756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C9861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8"/>
          <p:cNvSpPr/>
          <p:nvPr/>
        </p:nvSpPr>
        <p:spPr>
          <a:xfrm>
            <a:off x="4251960" y="2487168"/>
            <a:ext cx="640080" cy="640080"/>
          </a:xfrm>
          <a:prstGeom prst="ellipse">
            <a:avLst/>
          </a:prstGeom>
          <a:solidFill>
            <a:srgbClr val="C9861A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9976" y="2615184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进入候选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344728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标记待验证、先观察</a:t>
            </a:r>
            <a:endParaRPr lang="en-US" sz="115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3016" y="3063240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12648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5D8AA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2"/>
          <p:cNvSpPr/>
          <p:nvPr/>
        </p:nvSpPr>
        <p:spPr>
          <a:xfrm>
            <a:off x="7040880" y="2487168"/>
            <a:ext cx="640080" cy="640080"/>
          </a:xfrm>
          <a:prstGeom prst="ellipse">
            <a:avLst/>
          </a:prstGeom>
          <a:solidFill>
            <a:srgbClr val="5D8AA8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8896" y="2615184"/>
            <a:ext cx="384048" cy="38404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21792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统计校准</a:t>
            </a:r>
            <a:endParaRPr lang="en-US" sz="1450" dirty="0"/>
          </a:p>
        </p:txBody>
      </p:sp>
      <p:sp>
        <p:nvSpPr>
          <p:cNvPr id="21" name="Text 14"/>
          <p:cNvSpPr/>
          <p:nvPr/>
        </p:nvSpPr>
        <p:spPr>
          <a:xfrm>
            <a:off x="623620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用真实命中率验证</a:t>
            </a:r>
            <a:endParaRPr lang="en-US" sz="1150" dirty="0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1936" y="3063240"/>
            <a:ext cx="292608" cy="29260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891540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22875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16"/>
          <p:cNvSpPr/>
          <p:nvPr/>
        </p:nvSpPr>
        <p:spPr>
          <a:xfrm>
            <a:off x="9829800" y="2487168"/>
            <a:ext cx="640080" cy="640080"/>
          </a:xfrm>
          <a:prstGeom prst="ellipse">
            <a:avLst/>
          </a:prstGeom>
          <a:solidFill>
            <a:srgbClr val="22875A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2615184"/>
            <a:ext cx="384048" cy="384048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900684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人工审批</a:t>
            </a:r>
            <a:endParaRPr lang="en-US" sz="1450" dirty="0"/>
          </a:p>
        </p:txBody>
      </p:sp>
      <p:sp>
        <p:nvSpPr>
          <p:cNvPr id="27" name="Text 18"/>
          <p:cNvSpPr/>
          <p:nvPr/>
        </p:nvSpPr>
        <p:spPr>
          <a:xfrm>
            <a:off x="902512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委员会签字才生效</a:t>
            </a:r>
            <a:endParaRPr lang="en-US" sz="1150" dirty="0"/>
          </a:p>
        </p:txBody>
      </p:sp>
      <p:sp>
        <p:nvSpPr>
          <p:cNvPr id="28" name="Shape 19"/>
          <p:cNvSpPr/>
          <p:nvPr/>
        </p:nvSpPr>
        <p:spPr>
          <a:xfrm>
            <a:off x="548640" y="452628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FFF6E8"/>
          </a:solidFill>
          <a:ln w="15240">
            <a:solidFill>
              <a:srgbClr val="F0D8A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4864608"/>
            <a:ext cx="457200" cy="457200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1508760" y="4617720"/>
            <a:ext cx="9921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C986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合规底线：</a:t>
            </a:r>
            <a:r>
              <a:rPr lang="en-US" sz="13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自我进化只能「发现假设」，绝不能黑盒改告警等级。任何影响分级的变更，都必须经过可审计的统计校准 + 人工审批。</a:t>
            </a:r>
            <a:endParaRPr lang="en-US" sz="1350" dirty="0"/>
          </a:p>
        </p:txBody>
      </p:sp>
      <p:sp>
        <p:nvSpPr>
          <p:cNvPr id="31" name="Text 21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000" dirty="0"/>
          </a:p>
        </p:txBody>
      </p:sp>
      <p:sp>
        <p:nvSpPr>
          <p:cNvPr id="32" name="Text 2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206240"/>
            <a:ext cx="5486400" cy="5486400"/>
          </a:xfrm>
          <a:prstGeom prst="ellipse">
            <a:avLst/>
          </a:prstGeom>
          <a:solidFill>
            <a:srgbClr val="1BA39C">
              <a:alpha val="6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一句话总结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把高价值告警顶上来，让系统越用越准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201168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分级告警替代整体评分（强信号不再被稀释），双入口覆盖单笔与跨笔手法，AI 调查提效，自我进化发现新风险 —— 所有分级变更都在「统计校准 + 人工审批」的可审计闸门内。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3566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对法务团队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995928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32688" y="39319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一份排好序的清单，不再大海捞针</a:t>
            </a:r>
            <a:endParaRPr lang="en-US" sz="12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99592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56248" y="39319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每笔都附「为什么」，便于解释</a:t>
            </a:r>
            <a:endParaRPr lang="en-US" sz="12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99432"/>
            <a:ext cx="274320" cy="2743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32688" y="4535424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可解释 · 可审计，经得起监管追问</a:t>
            </a:r>
            <a:endParaRPr lang="en-US" sz="12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4599432"/>
            <a:ext cx="274320" cy="2743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56248" y="4535424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你的每次复核都在让系统更准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548640" y="5440680"/>
            <a:ext cx="11091672" cy="566928"/>
          </a:xfrm>
          <a:prstGeom prst="roundRect">
            <a:avLst>
              <a:gd name="adj" fmla="val 16129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0"/>
          <p:cNvSpPr/>
          <p:nvPr/>
        </p:nvSpPr>
        <p:spPr>
          <a:xfrm>
            <a:off x="777240" y="5440680"/>
            <a:ext cx="10698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后续对接：</a:t>
            </a:r>
            <a:r>
              <a:rPr lang="en-US" sz="120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真实数据源（企查查 / 天眼查 / Dow Jones）· 部署 Hermes Agent 框架 · 接入付款系统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548640" y="6263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原型演示 · 公司付款数据为合成数据，外部数据源 / Hermes 框架 / 付款冻结为待对接项。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A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BA39C"/>
                </a:solidFill>
                <a:latin typeface="Microsoft YaHei"/>
              </a:rPr>
              <a:t>进化机制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7313F"/>
                </a:solidFill>
                <a:latin typeface="Microsoft YaHei"/>
              </a:rPr>
              <a:t>两套进化引擎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00200"/>
            <a:ext cx="109728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1838F"/>
                </a:solidFill>
                <a:latin typeface="Microsoft YaHei"/>
              </a:rPr>
              <a:t>系统在两个方向上持续进化，但都受可审计闸门约束。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A39C"/>
                </a:solidFill>
                <a:latin typeface="Microsoft YaHei"/>
              </a:rPr>
              <a:t>进化 A · 调查越查越准 / 越全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87168"/>
            <a:ext cx="3291840" cy="822960"/>
          </a:xfrm>
          <a:prstGeom prst="roundRect">
            <a:avLst>
              <a:gd name="adj" fmla="val 12000"/>
            </a:avLst>
          </a:prstGeom>
          <a:solidFill>
            <a:srgbClr val="F4FAFB"/>
          </a:solidFill>
          <a:ln w="12700">
            <a:solidFill>
              <a:srgbClr val="DC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487168"/>
            <a:ext cx="3182112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7313F"/>
                </a:solidFill>
                <a:latin typeface="Microsoft YaHei"/>
              </a:rPr>
              <a:t>AI 调查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0207" y="2697480"/>
            <a:ext cx="384048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9FB6C0"/>
                </a:solidFill>
                <a:latin typeface="Microsoft YaHe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487168"/>
            <a:ext cx="3291840" cy="822960"/>
          </a:xfrm>
          <a:prstGeom prst="roundRect">
            <a:avLst>
              <a:gd name="adj" fmla="val 12000"/>
            </a:avLst>
          </a:prstGeom>
          <a:solidFill>
            <a:srgbClr val="F4FAFB"/>
          </a:solidFill>
          <a:ln w="12700">
            <a:solidFill>
              <a:srgbClr val="DC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8264" y="2487168"/>
            <a:ext cx="3182112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7313F"/>
                </a:solidFill>
                <a:latin typeface="Microsoft YaHei"/>
              </a:rPr>
              <a:t>法务复核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53527" y="2697480"/>
            <a:ext cx="384048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9FB6C0"/>
                </a:solidFill>
                <a:latin typeface="Microsoft Ya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2487168"/>
            <a:ext cx="3291840" cy="822960"/>
          </a:xfrm>
          <a:prstGeom prst="roundRect">
            <a:avLst>
              <a:gd name="adj" fmla="val 12000"/>
            </a:avLst>
          </a:prstGeom>
          <a:solidFill>
            <a:srgbClr val="F4FAFB"/>
          </a:solidFill>
          <a:ln w="12700">
            <a:solidFill>
              <a:srgbClr val="DC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01583" y="2487168"/>
            <a:ext cx="3182112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7313F"/>
                </a:solidFill>
                <a:latin typeface="Microsoft YaHei"/>
              </a:rPr>
              <a:t>沉淀调查 Playbook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419856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4FAFB"/>
          </a:solidFill>
          <a:ln w="15240">
            <a:solidFill>
              <a:srgbClr val="1BA39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419856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BA39C"/>
                </a:solidFill>
                <a:latin typeface="Microsoft YaHei"/>
              </a:rPr>
              <a:t>回流：</a:t>
            </a:r>
            <a:r>
              <a:rPr sz="1250" b="0">
                <a:solidFill>
                  <a:srgbClr val="17313F"/>
                </a:solidFill>
                <a:latin typeface="Microsoft YaHei"/>
              </a:rPr>
              <a:t>每次复核的「漏了什么 / 查错了什么」沉淀成调查套路，下次查得更准、更全。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2452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C9861A"/>
                </a:solidFill>
                <a:latin typeface="Microsoft YaHei"/>
              </a:rPr>
              <a:t>进化 B · 不断发现新 T1 / T2 规则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562856"/>
            <a:ext cx="2331720" cy="822960"/>
          </a:xfrm>
          <a:prstGeom prst="roundRect">
            <a:avLst>
              <a:gd name="adj" fmla="val 12000"/>
            </a:avLst>
          </a:prstGeom>
          <a:solidFill>
            <a:srgbClr val="F4FAFB"/>
          </a:solidFill>
          <a:ln w="12700">
            <a:solidFill>
              <a:srgbClr val="DC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4562856"/>
            <a:ext cx="2221991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7313F"/>
                </a:solidFill>
                <a:latin typeface="Microsoft YaHei"/>
              </a:rPr>
              <a:t>Agent 挖候选信号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4773168"/>
            <a:ext cx="384048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9FB6C0"/>
                </a:solidFill>
                <a:latin typeface="Microsoft YaHe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83280" y="4562856"/>
            <a:ext cx="2331720" cy="822960"/>
          </a:xfrm>
          <a:prstGeom prst="roundRect">
            <a:avLst>
              <a:gd name="adj" fmla="val 12000"/>
            </a:avLst>
          </a:prstGeom>
          <a:solidFill>
            <a:srgbClr val="F4FAFB"/>
          </a:solidFill>
          <a:ln w="12700">
            <a:solidFill>
              <a:srgbClr val="DC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38144" y="4562856"/>
            <a:ext cx="2221991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7313F"/>
                </a:solidFill>
                <a:latin typeface="Microsoft YaHei"/>
              </a:rPr>
              <a:t>PPV 统计校准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4773168"/>
            <a:ext cx="384048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9FB6C0"/>
                </a:solidFill>
                <a:latin typeface="Microsoft YaHe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80760" y="4562856"/>
            <a:ext cx="2331720" cy="822960"/>
          </a:xfrm>
          <a:prstGeom prst="roundRect">
            <a:avLst>
              <a:gd name="adj" fmla="val 12000"/>
            </a:avLst>
          </a:prstGeom>
          <a:solidFill>
            <a:srgbClr val="F4FAFB"/>
          </a:solidFill>
          <a:ln w="12700">
            <a:solidFill>
              <a:srgbClr val="DC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35624" y="4562856"/>
            <a:ext cx="2221991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7313F"/>
                </a:solidFill>
                <a:latin typeface="Microsoft YaHei"/>
              </a:rPr>
              <a:t>人工审批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773168"/>
            <a:ext cx="384048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9FB6C0"/>
                </a:solidFill>
                <a:latin typeface="Microsoft YaHe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78240" y="4562856"/>
            <a:ext cx="2331720" cy="822960"/>
          </a:xfrm>
          <a:prstGeom prst="roundRect">
            <a:avLst>
              <a:gd name="adj" fmla="val 12000"/>
            </a:avLst>
          </a:prstGeom>
          <a:solidFill>
            <a:srgbClr val="F4FAFB"/>
          </a:solidFill>
          <a:ln w="12700">
            <a:solidFill>
              <a:srgbClr val="DC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33104" y="4562856"/>
            <a:ext cx="2221991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7313F"/>
                </a:solidFill>
                <a:latin typeface="Microsoft YaHei"/>
              </a:rPr>
              <a:t>新 T1 / T2 规则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495544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4FAFB"/>
          </a:solidFill>
          <a:ln w="15240">
            <a:solidFill>
              <a:srgbClr val="C986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495544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C9861A"/>
                </a:solidFill>
                <a:latin typeface="Microsoft YaHei"/>
              </a:rPr>
              <a:t>闸门：</a:t>
            </a:r>
            <a:r>
              <a:rPr sz="1250" b="0">
                <a:solidFill>
                  <a:srgbClr val="17313F"/>
                </a:solidFill>
                <a:latin typeface="Microsoft YaHei"/>
              </a:rPr>
              <a:t>Agent 只提候选；达标 + 审批后才成为正式规则 —— 自我进化在闸门内。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468</Words>
  <Application>Microsoft Macintosh PowerPoint</Application>
  <PresentationFormat>宽屏</PresentationFormat>
  <Paragraphs>140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1" baseType="lpstr">
      <vt:lpstr>Microsoft YaHei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AML 付款风险识别系统 · 法务版</dc:title>
  <dc:subject>PptxGenJS Presentation</dc:subject>
  <dc:creator>PptxGenJS</dc:creator>
  <cp:lastModifiedBy>Junzhe JZ4 Xu</cp:lastModifiedBy>
  <cp:revision>3</cp:revision>
  <dcterms:created xsi:type="dcterms:W3CDTF">2026-06-03T06:52:57Z</dcterms:created>
  <dcterms:modified xsi:type="dcterms:W3CDTF">2026-06-03T07:02:47Z</dcterms:modified>
</cp:coreProperties>
</file>