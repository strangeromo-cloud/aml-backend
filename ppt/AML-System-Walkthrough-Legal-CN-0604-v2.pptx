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15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96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2377440"/>
            <a:ext cx="5943600" cy="5943600"/>
          </a:xfrm>
          <a:prstGeom prst="ellipse">
            <a:avLst/>
          </a:prstGeom>
          <a:solidFill>
            <a:srgbClr val="1BA39C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97135" y="2560320"/>
            <a:ext cx="4572000" cy="4572000"/>
          </a:xfrm>
          <a:prstGeom prst="ellipse">
            <a:avLst/>
          </a:prstGeom>
          <a:solidFill>
            <a:srgbClr val="1BA39C">
              <a:alpha val="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A3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2194560" cy="1005840"/>
          </a:xfrm>
          <a:prstGeom prst="rect">
            <a:avLst/>
          </a:prstGeom>
          <a:solidFill>
            <a:srgbClr val="1BA39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</a:t>
            </a:r>
            <a:r>
              <a:rPr lang="zh-CN" altLang="en-US" sz="4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反洗钱</a:t>
            </a:r>
            <a:r>
              <a:rPr lang="en-US" sz="4400" b="1" dirty="0" err="1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41248" y="36393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从「整体评分」到「分级告警 + 自我进化」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我们面对的现实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海量付款里，找极少数的洗钱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 万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笔付款 / 每天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全年约 365 万笔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498848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17136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起真实洗钱 / 每年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7136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阳性率约 1/40 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66176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28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84464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高精度规则命中后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确实是洗钱 (PPV)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84464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行业稀缺优势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02C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817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做不到、也无法验证「识别所有洗钱」（一年凑不出 10 个样本，传统机器学习不可行）。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目标改为：让法务每天能审的有限数量，做到含金量最高。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产品形态的核心转变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从「算一个总分」到「分级告警」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原有逻辑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整体加权评分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供应商分 × 40% + 付款分 × 35% + 合理性 × 25%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算一个 0–100 总分，按高/中/低排序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4224528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强信号被「平均」稀释：一笔哪怕只命中 1 条 30% 命中率硬规则的付款，被其它正常维度一平均就沉底、可能没人看。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611880"/>
            <a:ext cx="566928" cy="5669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65392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102C3A"/>
          </a:solidFill>
          <a:ln/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885432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新形态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85432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分级告警 (Tier)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885432" y="2926080"/>
            <a:ext cx="868680" cy="502920"/>
          </a:xfrm>
          <a:prstGeom prst="rect">
            <a:avLst/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882128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 · 24 小时内复核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85432" y="3566160"/>
            <a:ext cx="868680" cy="502920"/>
          </a:xfrm>
          <a:prstGeom prst="rect">
            <a:avLst/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82128" y="3566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 · 3 天内复核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85432" y="4206240"/>
            <a:ext cx="868680" cy="502920"/>
          </a:xfrm>
          <a:prstGeom prst="rect">
            <a:avLst/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882128" y="4206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· 批量排序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85432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2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复用原有评分逻辑。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85432" y="521208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强信号「跳出」平均池，命中即定级、直接置顶。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分级规则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三个等级：逐级说明</a:t>
            </a:r>
            <a:r>
              <a:rPr lang="zh-CN" alt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zh-CN" altLang="en-US" sz="30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需要确认分级</a:t>
            </a:r>
            <a:r>
              <a:rPr lang="zh-CN" alt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1296" cy="4160520"/>
          </a:xfrm>
          <a:prstGeom prst="roundRect">
            <a:avLst>
              <a:gd name="adj" fmla="val 364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868680" cy="566928"/>
          </a:xfrm>
          <a:prstGeom prst="rect">
            <a:avLst/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487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小时内复核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2962656" cy="0"/>
          </a:xfrm>
          <a:prstGeom prst="line">
            <a:avLst/>
          </a:prstGeom>
          <a:noFill/>
          <a:ln w="12700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2980944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命中任意 1 条高精度规则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3611880"/>
            <a:ext cx="28529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营业地国家不一致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付款方 / 发票来源国不一致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主营业务 ≠ 采购品类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虚假发票特征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983480"/>
            <a:ext cx="2962656" cy="868680"/>
          </a:xfrm>
          <a:prstGeom prst="roundRect">
            <a:avLst>
              <a:gd name="adj" fmla="val 10526"/>
            </a:avLst>
          </a:prstGeom>
          <a:solidFill>
            <a:srgbClr val="FBEEEE"/>
          </a:solidFill>
          <a:ln w="12700">
            <a:solidFill>
              <a:srgbClr val="F0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0120" y="5029200"/>
            <a:ext cx="2688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为何直接 T1：</a:t>
            </a:r>
            <a:r>
              <a:rPr lang="en-US" sz="11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100% 的确定性校验，单条命中即高置信。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828" y="1828800"/>
            <a:ext cx="3511296" cy="4160520"/>
          </a:xfrm>
          <a:prstGeom prst="roundRect">
            <a:avLst>
              <a:gd name="adj" fmla="val 364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613148" y="2103120"/>
            <a:ext cx="868680" cy="566928"/>
          </a:xfrm>
          <a:prstGeom prst="rect">
            <a:avLst/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18988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18988" y="2487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天内复核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3148" y="2880360"/>
            <a:ext cx="2962656" cy="0"/>
          </a:xfrm>
          <a:prstGeom prst="line">
            <a:avLst/>
          </a:prstGeom>
          <a:noFill/>
          <a:ln w="12700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613148" y="2980944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仅命中供应商级信号（无硬规则命中）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3148" y="361188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命中以下任一供应商级行为信号：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2876" y="4023360"/>
            <a:ext cx="28529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拆分付款（化整为零）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付款突增（新供应商）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高精度规则多次命中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29016" y="1828800"/>
            <a:ext cx="3511296" cy="4160520"/>
          </a:xfrm>
          <a:prstGeom prst="roundRect">
            <a:avLst>
              <a:gd name="adj" fmla="val 364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03336" y="2103120"/>
            <a:ext cx="868680" cy="566928"/>
          </a:xfrm>
          <a:prstGeom prst="rect">
            <a:avLst/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09176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09176" y="2487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批量排序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03336" y="2880360"/>
            <a:ext cx="2962656" cy="0"/>
          </a:xfrm>
          <a:prstGeom prst="line">
            <a:avLst/>
          </a:prstGeom>
          <a:noFill/>
          <a:ln w="12700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03336" y="2980944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 / 行为均未命中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03336" y="3611880"/>
            <a:ext cx="29626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回落到原有加权评分（供应商分 / 付款分 / 合理性），批量排序后取 Top K 复核。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怎么发现 · 怎么运转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两个入口，一个越用越准的闭环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1BA39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A · 付款级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5786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单笔命中硬规则：国家不一致、虚假发票、业务 ≠ 品类…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455664" y="2011680"/>
            <a:ext cx="548640" cy="548640"/>
          </a:xfrm>
          <a:prstGeom prst="ellipse">
            <a:avLst/>
          </a:prstGeom>
          <a:solidFill>
            <a:srgbClr val="C986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B · 供应商级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5786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聚合多笔才看得出：拆分付款、付款突增、多次命中…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33101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两入口合并成法务的一份统一告警清单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605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+ 定级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384" y="4160520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33756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352044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41605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调查</a:t>
            </a:r>
            <a:endParaRPr lang="en-US" sz="13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416052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2648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8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16052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5800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法务裁决</a:t>
            </a:r>
            <a:endParaRPr lang="en-US" sz="13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160520"/>
            <a:ext cx="237744" cy="23774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91540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1"/>
          <p:cNvSpPr/>
          <p:nvPr/>
        </p:nvSpPr>
        <p:spPr>
          <a:xfrm>
            <a:off x="909828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416052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4692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4FAFB"/>
          </a:solidFill>
          <a:ln w="15240">
            <a:solidFill>
              <a:srgbClr val="1BA3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212080"/>
            <a:ext cx="411480" cy="4114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417320" y="5029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回流校准：</a:t>
            </a:r>
            <a:r>
              <a:rPr lang="en-US" sz="13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法务每一次复核都被结构化沉淀，反过来校准「该看谁、多急」—— 系统越用越准。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一笔付款在系统中的流转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订单流入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万 / 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27432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286000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331720" y="18288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+ 分层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双入口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168249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251960" y="168249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286000"/>
            <a:ext cx="27432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40680" y="14813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/ T2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35040" y="18288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调查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生成证据包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001000" y="168249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001000" y="168249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洗钱？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6404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710928" y="182880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756648" y="182880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进化与学习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 · 发现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889504"/>
            <a:ext cx="0" cy="53949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074920" y="29077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8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34290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11480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批量评分排序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32520" y="2889504"/>
            <a:ext cx="0" cy="53949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96528" y="2907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8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/ 否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0" y="34290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81812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记录结论 → 学习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02468" y="2743200"/>
            <a:ext cx="0" cy="159105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870948" y="433425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870948" y="433425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 ≥ 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 PPV 达标？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0948" y="4937760"/>
            <a:ext cx="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601200" y="45537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461772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blurRad="114300" dist="38100" dir="8100000" algn="bl" rotWithShape="0">
              <a:srgbClr val="0B1F2A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72668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继续观察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698480" y="53949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8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602468" y="5541264"/>
            <a:ext cx="0" cy="448056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3131820" y="5989320"/>
            <a:ext cx="7470648" cy="0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3131820" y="2743200"/>
            <a:ext cx="0" cy="3246120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  <a:head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3383280" y="55961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新信号转正 / 调整分层  </a:t>
            </a:r>
            <a:r>
              <a:rPr lang="en-US" sz="11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受统计校准 + 人工审批把关。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重点创新 · 自我进化（Hermes Agent）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3000" b="1" dirty="0" err="1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从「静态规则」走向「会进化的助手</a:t>
            </a:r>
            <a:r>
              <a:rPr lang="en-US" altLang="zh-CN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，但分级仍需把关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过去信号全靠法务凭经验预先定义；现在 Agent 从积累的案例中主动提出新假设。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1BA3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463040" y="2487168"/>
            <a:ext cx="640080" cy="640080"/>
          </a:xfrm>
          <a:prstGeom prst="ellipse">
            <a:avLst/>
          </a:prstGeom>
          <a:solidFill>
            <a:srgbClr val="1BA39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26151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发现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学出反复出现的新模式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6" y="306324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C986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4251960" y="2487168"/>
            <a:ext cx="640080" cy="640080"/>
          </a:xfrm>
          <a:prstGeom prst="ellipse">
            <a:avLst/>
          </a:prstGeom>
          <a:solidFill>
            <a:srgbClr val="C986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26151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进入候选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44728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标记待验证、先观察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063240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5D8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2"/>
          <p:cNvSpPr/>
          <p:nvPr/>
        </p:nvSpPr>
        <p:spPr>
          <a:xfrm>
            <a:off x="7040880" y="2487168"/>
            <a:ext cx="640080" cy="640080"/>
          </a:xfrm>
          <a:prstGeom prst="ellipse">
            <a:avLst/>
          </a:prstGeom>
          <a:solidFill>
            <a:srgbClr val="5D8AA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2615184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179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统计校准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23620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用真实命中率验证</a:t>
            </a:r>
            <a:endParaRPr lang="en-US" sz="11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36" y="3063240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1540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2287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6"/>
          <p:cNvSpPr/>
          <p:nvPr/>
        </p:nvSpPr>
        <p:spPr>
          <a:xfrm>
            <a:off x="9829800" y="2487168"/>
            <a:ext cx="640080" cy="640080"/>
          </a:xfrm>
          <a:prstGeom prst="ellipse">
            <a:avLst/>
          </a:prstGeom>
          <a:solidFill>
            <a:srgbClr val="22875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2615184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0684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902512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委员会签字才生效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548640" y="45262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6E8"/>
          </a:solidFill>
          <a:ln w="15240">
            <a:solidFill>
              <a:srgbClr val="F0D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864608"/>
            <a:ext cx="4572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08760" y="461772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986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合规底线：</a:t>
            </a:r>
            <a:r>
              <a:rPr lang="en-US" sz="13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自我进化只能「发现假设」，绝不能黑盒改告警等级。任何影响分级的变更，都必须经过可审计的统计校准 + 人工审批。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1BA39C">
              <a:alpha val="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把高价值告警顶上来，让系统越用越准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分级告警替代整体评分（强信号不再被稀释），双入口覆盖单笔与跨笔手法，AI 调查提效，自我进化发现新风险 —— 所有分级变更都在「统计校准 + 人工审批」的可审计闸门内。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对法务团队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一份排好序的清单，不再大海捞针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9592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56248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每笔都附「为什么」，便于解释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994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45354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 · 可审计，经得起监管追问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9943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56248" y="45354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你的每次复核都在让系统更准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777240" y="544068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后续对接：</a:t>
            </a:r>
            <a:r>
              <a:rPr lang="en-US" sz="12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真实数据源（企查查 / 天眼查 / Dow Jones）· 部署 Hermes Agent 框架 · 接入付款系统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原型演示 · 公司付款数据为合成数据，外部数据源 / Hermes 框架 / 付款冻结为待对接项。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BA39C"/>
                </a:solidFill>
                <a:latin typeface="Microsoft YaHei"/>
              </a:rPr>
              <a:t>目标与收益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313F"/>
                </a:solidFill>
                <a:latin typeface="Microsoft YaHei"/>
              </a:rPr>
              <a:t>让法务前置发现潜在洗钱行为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1838F"/>
                </a:solidFill>
                <a:latin typeface="Microsoft YaHei"/>
              </a:rPr>
              <a:t>从「事后追查」转向「事前识别」—— 在付款出账前把风险拦下来。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358384" cy="17830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670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651760"/>
            <a:ext cx="407822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13F"/>
                </a:solidFill>
                <a:latin typeface="Microsoft YaHei"/>
              </a:rPr>
              <a:t>前置识别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310128"/>
            <a:ext cx="476402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71838F"/>
                </a:solidFill>
                <a:latin typeface="Microsoft YaHei"/>
              </a:rPr>
              <a:t>付款进行中即识别潜在洗钱，把风险拦在出款前，而非事后审计。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377440"/>
            <a:ext cx="5358384" cy="17830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5392" y="2670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51760"/>
            <a:ext cx="407822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13F"/>
                </a:solidFill>
                <a:latin typeface="Microsoft YaHei"/>
              </a:rPr>
              <a:t>聚焦高价值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310128"/>
            <a:ext cx="476402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71838F"/>
                </a:solidFill>
                <a:latin typeface="Microsoft YaHei"/>
              </a:rPr>
              <a:t>海量付款里把最该看的顶到前面，法务有限产能用在刀刃上。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5358384" cy="17830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459028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572000"/>
            <a:ext cx="407822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13F"/>
                </a:solidFill>
                <a:latin typeface="Microsoft YaHei"/>
              </a:rPr>
              <a:t>可解释 · 可审计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230368"/>
            <a:ext cx="476402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71838F"/>
                </a:solidFill>
                <a:latin typeface="Microsoft YaHei"/>
              </a:rPr>
              <a:t>每个告警都说得清「为什么」，分级与变更全程留痕，经得起监管追问。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4297680"/>
            <a:ext cx="5358384" cy="17830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65392" y="459028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72000"/>
            <a:ext cx="407822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13F"/>
                </a:solidFill>
                <a:latin typeface="Microsoft YaHei"/>
              </a:rPr>
              <a:t>越用越准 · 提效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230368"/>
            <a:ext cx="476402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71838F"/>
                </a:solidFill>
                <a:latin typeface="Microsoft YaHei"/>
              </a:rPr>
              <a:t>AI 调查取证提效；每次复核反哺系统，识别能力持续提升。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468</Words>
  <Application>Microsoft Macintosh PowerPoint</Application>
  <PresentationFormat>宽屏</PresentationFormat>
  <Paragraphs>140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付款风险识别系统 · 法务版</dc:title>
  <dc:subject>PptxGenJS Presentation</dc:subject>
  <dc:creator>PptxGenJS</dc:creator>
  <cp:lastModifiedBy>Junzhe JZ4 Xu</cp:lastModifiedBy>
  <cp:revision>3</cp:revision>
  <dcterms:created xsi:type="dcterms:W3CDTF">2026-06-03T06:52:57Z</dcterms:created>
  <dcterms:modified xsi:type="dcterms:W3CDTF">2026-06-03T07:02:47Z</dcterms:modified>
</cp:coreProperties>
</file>