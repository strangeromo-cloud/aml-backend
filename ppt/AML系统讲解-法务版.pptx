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C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BA39C"/>
          </a:solidFill>
          <a:ln/>
        </p:spPr>
      </p:sp>
      <p:sp>
        <p:nvSpPr>
          <p:cNvPr id="3" name="Shape 1"/>
          <p:cNvSpPr/>
          <p:nvPr/>
        </p:nvSpPr>
        <p:spPr>
          <a:xfrm>
            <a:off x="8351215" y="-2194560"/>
            <a:ext cx="5943600" cy="5943600"/>
          </a:xfrm>
          <a:prstGeom prst="ellipse">
            <a:avLst/>
          </a:prstGeom>
          <a:solidFill>
            <a:srgbClr val="37B7AD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14255" y="2377440"/>
            <a:ext cx="4572000" cy="4572000"/>
          </a:xfrm>
          <a:prstGeom prst="ellipse">
            <a:avLst/>
          </a:prstGeom>
          <a:solidFill>
            <a:srgbClr val="1BA39C">
              <a:alpha val="1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2194560" cy="1005840"/>
          </a:xfrm>
          <a:prstGeom prst="rect">
            <a:avLst>
              <a:gd name="adj" fmla="val 18182"/>
            </a:avLst>
          </a:prstGeom>
          <a:solidFill>
            <a:srgbClr val="1BA39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02C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AML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26060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付款风险识别系统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ECD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从「整体评分」到「分级告警 + 自我进化」的产品演进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41248" y="50292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8FB2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面向法务团队的系统讲解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8FB2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识别风险 · 解释依据 · 收集反馈 · 持续进化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我们面对的现实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海量付款里，找极少数的洗钱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474720" cy="1965960"/>
          </a:xfrm>
          <a:prstGeom prst="roundRect">
            <a:avLst>
              <a:gd name="adj" fmla="val 5581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201168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≈ 1 万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49808" y="2907792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笔付款 / 每天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49808" y="341985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全年约 365 万笔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15968" y="1828800"/>
            <a:ext cx="3474720" cy="1965960"/>
          </a:xfrm>
          <a:prstGeom prst="roundRect">
            <a:avLst>
              <a:gd name="adj" fmla="val 5581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98848" y="201168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84B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10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4517136" y="2907792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起真实洗钱 / 每年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17136" y="341985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阳性率约 1/40 万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83296" y="1828800"/>
            <a:ext cx="3474720" cy="1965960"/>
          </a:xfrm>
          <a:prstGeom prst="roundRect">
            <a:avLst>
              <a:gd name="adj" fmla="val 5581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66176" y="201168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287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30%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8284464" y="2907792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高精度规则命中后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确实是洗钱 (PPV)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84464" y="341985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行业稀缺优势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160520"/>
            <a:ext cx="11091672" cy="1417320"/>
          </a:xfrm>
          <a:prstGeom prst="roundRect">
            <a:avLst>
              <a:gd name="adj" fmla="val 7742"/>
            </a:avLst>
          </a:prstGeom>
          <a:solidFill>
            <a:srgbClr val="102C3A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31596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7B7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由此推导出的结论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2960" y="47091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传统机器学习不可行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AECD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（一年凑不出 10 个样本）    </a:t>
            </a:r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不能用准确率衡量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AECD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（不知道漏了多少）    </a:t>
            </a:r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37B7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目标改为：让法务每天能审的那几十笔，含金量最高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AML 付款风险识别系统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产品形态的核心转变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从「算一个总分」到「分级告警」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074920" cy="4023360"/>
          </a:xfrm>
          <a:prstGeom prst="roundRect">
            <a:avLst>
              <a:gd name="adj" fmla="val 2727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0116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原有逻辑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整体加权评分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68680" y="2926080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供应商分 × 40% + 付款分 × 35% + 合理性 × 25%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算出 0–100 的总分，按高/中/低排序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68680" y="38862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84B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4206240"/>
            <a:ext cx="45262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强信号被「平均」稀释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一笔命中 2 条 30% 命中率硬规则的付款，被其它正常维度一平均就沉底了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高/中/低 难以对应「该多急去看」</a:t>
            </a:r>
            <a:endParaRPr lang="en-US" sz="12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3611880"/>
            <a:ext cx="566928" cy="56692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565392" y="1828800"/>
            <a:ext cx="5074920" cy="4023360"/>
          </a:xfrm>
          <a:prstGeom prst="roundRect">
            <a:avLst>
              <a:gd name="adj" fmla="val 2727"/>
            </a:avLst>
          </a:prstGeom>
          <a:solidFill>
            <a:srgbClr val="102C3A"/>
          </a:solidFill>
          <a:ln/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885432" y="20116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7B7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新形态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885432" y="23774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分级告警 (Tier)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885432" y="2971800"/>
            <a:ext cx="868680" cy="502920"/>
          </a:xfrm>
          <a:prstGeom prst="rect">
            <a:avLst>
              <a:gd name="adj" fmla="val 14545"/>
            </a:avLst>
          </a:prstGeom>
          <a:solidFill>
            <a:srgbClr val="D84B4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7882128" y="297180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EB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紧急 · 24 小时内复核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885432" y="3630168"/>
            <a:ext cx="868680" cy="502920"/>
          </a:xfrm>
          <a:prstGeom prst="rect">
            <a:avLst>
              <a:gd name="adj" fmla="val 14545"/>
            </a:avLst>
          </a:prstGeom>
          <a:solidFill>
            <a:srgbClr val="C9861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7882128" y="363016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EB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告警 · 3 天内复核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885432" y="4288536"/>
            <a:ext cx="868680" cy="502920"/>
          </a:xfrm>
          <a:prstGeom prst="rect">
            <a:avLst>
              <a:gd name="adj" fmla="val 14545"/>
            </a:avLst>
          </a:prstGeom>
          <a:solidFill>
            <a:srgbClr val="5D8AA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T3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7882128" y="4288536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EB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评分 · 批量排序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885432" y="516636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37B7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强信号「跳出」平均池，命中即定级、直接置顶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AML 付款风险识别系统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为什么必须转变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加权平均会「淹没」最关键的信号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同一笔可疑付款，两种算法的结局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286000"/>
            <a:ext cx="17922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命中 2 条硬规则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2651760"/>
            <a:ext cx="17922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84B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高度可疑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0" y="2148840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52928" y="2286000"/>
            <a:ext cx="17922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供应商基础分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852928" y="2651760"/>
            <a:ext cx="17922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87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偏低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937760" y="2148840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47488" y="2286000"/>
            <a:ext cx="17922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其它维度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047488" y="2651760"/>
            <a:ext cx="17922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87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正常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52044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FBEEEE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703320"/>
            <a:ext cx="548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84B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✕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1463040" y="3611880"/>
            <a:ext cx="9966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D84B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加权平均：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强信号被正常维度平均掉 → 总分中等 → 排在队伍后面 → 可能没人看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466344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E9F6EF"/>
          </a:solidFill>
          <a:ln w="12700">
            <a:solidFill>
              <a:srgbClr val="BFE3C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846320"/>
            <a:ext cx="548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287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1463040" y="4754880"/>
            <a:ext cx="9966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287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分级告警：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命中 2 条硬规则 → 直接判定 T1 紧急 → 置顶 → 24 小时内必看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AML 付款风险识别系统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怎么发现风险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两个入口，一份统一告警清单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440680" cy="2743200"/>
          </a:xfrm>
          <a:prstGeom prst="roundRect">
            <a:avLst>
              <a:gd name="adj" fmla="val 40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57400"/>
            <a:ext cx="548640" cy="54864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167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2057400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入口 A · 付款级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914400" y="2697480"/>
            <a:ext cx="484632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spcAft>
                <a:spcPts val="300"/>
              </a:spcAft>
              <a:buNone/>
            </a:pPr>
            <a:r>
              <a:rPr lang="en-US" sz="1250" i="1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单笔交易命中「高精度硬规则」</a:t>
            </a:r>
            <a:endParaRPr lang="en-US" sz="1250" dirty="0"/>
          </a:p>
          <a:p>
            <a:pPr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银行 / 营业地国家不一致</a:t>
            </a:r>
            <a:endParaRPr lang="en-US" sz="1250" dirty="0"/>
          </a:p>
          <a:p>
            <a:pPr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付款方 / 发票来源国不一致</a:t>
            </a:r>
            <a:endParaRPr lang="en-US" sz="1250" dirty="0"/>
          </a:p>
          <a:p>
            <a:pPr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主营业务 ≠ 采购品类</a:t>
            </a:r>
            <a:endParaRPr lang="en-US" sz="1250" dirty="0"/>
          </a:p>
          <a:p>
            <a:pPr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虚假发票特征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99632" y="1828800"/>
            <a:ext cx="5440680" cy="2743200"/>
          </a:xfrm>
          <a:prstGeom prst="roundRect">
            <a:avLst>
              <a:gd name="adj" fmla="val 40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28232" y="2057400"/>
            <a:ext cx="548640" cy="548640"/>
          </a:xfrm>
          <a:prstGeom prst="ellipse">
            <a:avLst/>
          </a:prstGeom>
          <a:solidFill>
            <a:srgbClr val="C9861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16712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14032" y="2057400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入口 B · 供应商级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6565392" y="2697480"/>
            <a:ext cx="484632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spcAft>
                <a:spcPts val="300"/>
              </a:spcAft>
              <a:buNone/>
            </a:pPr>
            <a:r>
              <a:rPr lang="en-US" sz="1250" i="1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聚合一个供应商的多笔付款才看得出</a:t>
            </a:r>
            <a:endParaRPr lang="en-US" sz="1250" dirty="0"/>
          </a:p>
          <a:p>
            <a:pPr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拆分付款（化整为零，多笔小额）</a:t>
            </a:r>
            <a:endParaRPr lang="en-US" sz="1250" dirty="0"/>
          </a:p>
          <a:p>
            <a:pPr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付款突增（对新供应商频率激增）</a:t>
            </a:r>
            <a:endParaRPr lang="en-US" sz="1250" dirty="0"/>
          </a:p>
          <a:p>
            <a:pPr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高精度规则多次命中（汇总）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4800600"/>
            <a:ext cx="11091672" cy="914400"/>
          </a:xfrm>
          <a:prstGeom prst="roundRect">
            <a:avLst>
              <a:gd name="adj" fmla="val 12000"/>
            </a:avLst>
          </a:prstGeom>
          <a:solidFill>
            <a:srgbClr val="102C3A"/>
          </a:solidFill>
          <a:ln/>
        </p:spPr>
      </p:sp>
      <p:sp>
        <p:nvSpPr>
          <p:cNvPr id="15" name="Text 11"/>
          <p:cNvSpPr/>
          <p:nvPr/>
        </p:nvSpPr>
        <p:spPr>
          <a:xfrm>
            <a:off x="822960" y="49377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37B7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关键价值：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DDEB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入口 A 抓单笔异常，入口 B 抓「拆分 / 突增」这类只有跨笔才看得见的洗钱手法 —— 两者合并成法务的一份工作清单。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AML 付款风险识别系统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系统怎么运转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一个会「越用越准」的闭环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246888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63040" y="2377440"/>
            <a:ext cx="640080" cy="640080"/>
          </a:xfrm>
          <a:prstGeom prst="ellipse">
            <a:avLst/>
          </a:prstGeom>
          <a:solidFill>
            <a:srgbClr val="F4FAFB"/>
          </a:solidFill>
          <a:ln w="19050">
            <a:solidFill>
              <a:srgbClr val="1BA39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1056" y="2505456"/>
            <a:ext cx="38404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22860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0080" y="31546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 + 定级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58368" y="3566160"/>
            <a:ext cx="224942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双入口 → Tier 分级</a:t>
            </a:r>
            <a:endParaRPr lang="en-US" sz="11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096" y="2971800"/>
            <a:ext cx="292608" cy="29260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337560" y="2148840"/>
            <a:ext cx="246888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251960" y="2377440"/>
            <a:ext cx="640080" cy="640080"/>
          </a:xfrm>
          <a:prstGeom prst="ellipse">
            <a:avLst/>
          </a:prstGeom>
          <a:solidFill>
            <a:srgbClr val="F4FAFB"/>
          </a:solidFill>
          <a:ln w="19050">
            <a:solidFill>
              <a:srgbClr val="1BA39C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9976" y="2505456"/>
            <a:ext cx="384048" cy="38404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74720" y="22860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3429000" y="31546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调查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3447288" y="3566160"/>
            <a:ext cx="224942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自动多源取证 + 综合建议</a:t>
            </a:r>
            <a:endParaRPr lang="en-US" sz="11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3016" y="2971800"/>
            <a:ext cx="292608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126480" y="2148840"/>
            <a:ext cx="246888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7040880" y="2377440"/>
            <a:ext cx="640080" cy="640080"/>
          </a:xfrm>
          <a:prstGeom prst="ellipse">
            <a:avLst/>
          </a:prstGeom>
          <a:solidFill>
            <a:srgbClr val="F4FAFB"/>
          </a:solidFill>
          <a:ln w="19050">
            <a:solidFill>
              <a:srgbClr val="1BA39C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8896" y="2505456"/>
            <a:ext cx="384048" cy="384048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263640" y="22860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600" dirty="0"/>
          </a:p>
        </p:txBody>
      </p:sp>
      <p:sp>
        <p:nvSpPr>
          <p:cNvPr id="22" name="Text 15"/>
          <p:cNvSpPr/>
          <p:nvPr/>
        </p:nvSpPr>
        <p:spPr>
          <a:xfrm>
            <a:off x="6217920" y="31546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法务裁决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236208" y="3566160"/>
            <a:ext cx="224942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看证据、定结论</a:t>
            </a:r>
            <a:endParaRPr lang="en-US" sz="115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1936" y="2971800"/>
            <a:ext cx="292608" cy="292608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8915400" y="2148840"/>
            <a:ext cx="246888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26" name="Shape 18"/>
          <p:cNvSpPr/>
          <p:nvPr/>
        </p:nvSpPr>
        <p:spPr>
          <a:xfrm>
            <a:off x="9829800" y="2377440"/>
            <a:ext cx="640080" cy="640080"/>
          </a:xfrm>
          <a:prstGeom prst="ellipse">
            <a:avLst/>
          </a:prstGeom>
          <a:solidFill>
            <a:srgbClr val="F4FAFB"/>
          </a:solidFill>
          <a:ln w="19050">
            <a:solidFill>
              <a:srgbClr val="1BA39C"/>
            </a:solidFill>
            <a:prstDash val="solid"/>
          </a:ln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57816" y="2505456"/>
            <a:ext cx="384048" cy="384048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9052560" y="22860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600" dirty="0"/>
          </a:p>
        </p:txBody>
      </p:sp>
      <p:sp>
        <p:nvSpPr>
          <p:cNvPr id="29" name="Text 20"/>
          <p:cNvSpPr/>
          <p:nvPr/>
        </p:nvSpPr>
        <p:spPr>
          <a:xfrm>
            <a:off x="9006840" y="31546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持续学习</a:t>
            </a:r>
            <a:endParaRPr lang="en-US" sz="1500" dirty="0"/>
          </a:p>
        </p:txBody>
      </p:sp>
      <p:sp>
        <p:nvSpPr>
          <p:cNvPr id="30" name="Text 21"/>
          <p:cNvSpPr/>
          <p:nvPr/>
        </p:nvSpPr>
        <p:spPr>
          <a:xfrm>
            <a:off x="9025128" y="3566160"/>
            <a:ext cx="224942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测真实命中率、发现新信号</a:t>
            </a:r>
            <a:endParaRPr lang="en-US" sz="1150" dirty="0"/>
          </a:p>
        </p:txBody>
      </p:sp>
      <p:sp>
        <p:nvSpPr>
          <p:cNvPr id="31" name="Shape 22"/>
          <p:cNvSpPr/>
          <p:nvPr/>
        </p:nvSpPr>
        <p:spPr>
          <a:xfrm>
            <a:off x="548640" y="4617720"/>
            <a:ext cx="11091672" cy="1051560"/>
          </a:xfrm>
          <a:prstGeom prst="roundRect">
            <a:avLst>
              <a:gd name="adj" fmla="val 10435"/>
            </a:avLst>
          </a:prstGeom>
          <a:solidFill>
            <a:srgbClr val="F4FAFB"/>
          </a:solidFill>
          <a:ln w="15240">
            <a:solidFill>
              <a:srgbClr val="1BA39C"/>
            </a:solidFill>
            <a:prstDash val="dash"/>
          </a:ln>
        </p:spPr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960" y="4892040"/>
            <a:ext cx="457200" cy="45720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1463040" y="4709160"/>
            <a:ext cx="9966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回流校准：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法务的每一次复核都被结构化沉淀，反过来校准「该看谁、多急」—— 这就是系统越用越准的燃料。</a:t>
            </a:r>
            <a:endParaRPr lang="en-US" sz="1350" dirty="0"/>
          </a:p>
        </p:txBody>
      </p:sp>
      <p:sp>
        <p:nvSpPr>
          <p:cNvPr id="34" name="Text 24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000" dirty="0"/>
          </a:p>
        </p:txBody>
      </p:sp>
      <p:sp>
        <p:nvSpPr>
          <p:cNvPr id="35" name="Text 25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AML 付款风险识别系统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2C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BA39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7B7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三个核心创新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让系统从「静态规则」走向「会进化的助手」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3474720" cy="3291840"/>
          </a:xfrm>
          <a:prstGeom prst="roundRect">
            <a:avLst>
              <a:gd name="adj" fmla="val 3889"/>
            </a:avLst>
          </a:prstGeom>
          <a:solidFill>
            <a:srgbClr val="16384A"/>
          </a:solidFill>
          <a:ln w="12700">
            <a:solidFill>
              <a:srgbClr val="29516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514600"/>
            <a:ext cx="868680" cy="86868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715768"/>
            <a:ext cx="466344" cy="4663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834640" y="246888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2951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868680" y="36118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调查 Agent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886968" y="4114800"/>
            <a:ext cx="2971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ECD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自动多源取证，把每件调查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ECD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1 小时压缩到几分钟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315968" y="2194560"/>
            <a:ext cx="3474720" cy="3291840"/>
          </a:xfrm>
          <a:prstGeom prst="roundRect">
            <a:avLst>
              <a:gd name="adj" fmla="val 3889"/>
            </a:avLst>
          </a:prstGeom>
          <a:solidFill>
            <a:srgbClr val="16384A"/>
          </a:solidFill>
          <a:ln w="12700">
            <a:solidFill>
              <a:srgbClr val="29516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636008" y="2514600"/>
            <a:ext cx="868680" cy="86868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176" y="2715768"/>
            <a:ext cx="466344" cy="46634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601968" y="246888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2951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3400" dirty="0"/>
          </a:p>
        </p:txBody>
      </p:sp>
      <p:sp>
        <p:nvSpPr>
          <p:cNvPr id="15" name="Text 11"/>
          <p:cNvSpPr/>
          <p:nvPr/>
        </p:nvSpPr>
        <p:spPr>
          <a:xfrm>
            <a:off x="4636008" y="36118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自我进化</a:t>
            </a:r>
            <a:endParaRPr lang="en-US" sz="1800" dirty="0"/>
          </a:p>
        </p:txBody>
      </p:sp>
      <p:sp>
        <p:nvSpPr>
          <p:cNvPr id="16" name="Text 12"/>
          <p:cNvSpPr/>
          <p:nvPr/>
        </p:nvSpPr>
        <p:spPr>
          <a:xfrm>
            <a:off x="4654296" y="4114800"/>
            <a:ext cx="2971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ECD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从经验中发现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ECD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规则集里还没有的新信号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8083296" y="2194560"/>
            <a:ext cx="3474720" cy="3291840"/>
          </a:xfrm>
          <a:prstGeom prst="roundRect">
            <a:avLst>
              <a:gd name="adj" fmla="val 3889"/>
            </a:avLst>
          </a:prstGeom>
          <a:solidFill>
            <a:srgbClr val="16384A"/>
          </a:solidFill>
          <a:ln w="12700">
            <a:solidFill>
              <a:srgbClr val="29516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403336" y="2514600"/>
            <a:ext cx="868680" cy="86868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504" y="2715768"/>
            <a:ext cx="466344" cy="46634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0369296" y="246888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2951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3400" dirty="0"/>
          </a:p>
        </p:txBody>
      </p:sp>
      <p:sp>
        <p:nvSpPr>
          <p:cNvPr id="21" name="Text 16"/>
          <p:cNvSpPr/>
          <p:nvPr/>
        </p:nvSpPr>
        <p:spPr>
          <a:xfrm>
            <a:off x="8403336" y="36118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信号台账 + 校准</a:t>
            </a:r>
            <a:endParaRPr lang="en-US" sz="1800" dirty="0"/>
          </a:p>
        </p:txBody>
      </p:sp>
      <p:sp>
        <p:nvSpPr>
          <p:cNvPr id="22" name="Text 17"/>
          <p:cNvSpPr/>
          <p:nvPr/>
        </p:nvSpPr>
        <p:spPr>
          <a:xfrm>
            <a:off x="8421624" y="4114800"/>
            <a:ext cx="2971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ECD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每个信号靠真实命中率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ECD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自动升级 / 降级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AML 付款风险识别系统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 ① · AI 调查 Agent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取证，法务定论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566928" cy="566928"/>
          </a:xfrm>
          <a:prstGeom prst="ellipse">
            <a:avLst/>
          </a:prstGeom>
          <a:solidFill>
            <a:srgbClr val="1BA39C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87452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77824" y="2441448"/>
            <a:ext cx="0" cy="347472"/>
          </a:xfrm>
          <a:prstGeom prst="line">
            <a:avLst/>
          </a:prstGeom>
          <a:noFill/>
          <a:ln w="19050">
            <a:solidFill>
              <a:srgbClr val="1BA39C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1371600" y="1856232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自动路由数据源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2203704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中国主体 → 企查查 / 天眼查；境外 → Dow Jones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94360" y="2788920"/>
            <a:ext cx="566928" cy="566928"/>
          </a:xfrm>
          <a:prstGeom prst="ellipse">
            <a:avLst/>
          </a:prstGeom>
          <a:solidFill>
            <a:srgbClr val="1BA39C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78892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877824" y="3355848"/>
            <a:ext cx="0" cy="347472"/>
          </a:xfrm>
          <a:prstGeom prst="line">
            <a:avLst/>
          </a:prstGeom>
          <a:noFill/>
          <a:ln w="19050">
            <a:solidFill>
              <a:srgbClr val="1BA39C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1371600" y="2770632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多源取证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71600" y="3118104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股东背景、制裁名单、PEP、不利媒体、资金路径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4360" y="3703320"/>
            <a:ext cx="566928" cy="566928"/>
          </a:xfrm>
          <a:prstGeom prst="ellipse">
            <a:avLst/>
          </a:prstGeom>
          <a:solidFill>
            <a:srgbClr val="1BA39C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370332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77824" y="4270248"/>
            <a:ext cx="0" cy="347472"/>
          </a:xfrm>
          <a:prstGeom prst="line">
            <a:avLst/>
          </a:prstGeom>
          <a:noFill/>
          <a:ln w="19050">
            <a:solidFill>
              <a:srgbClr val="1BA39C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371600" y="3685032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综合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4032504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交叉比对证据，生成一份「调查结论包」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4360" y="4617720"/>
            <a:ext cx="566928" cy="566928"/>
          </a:xfrm>
          <a:prstGeom prst="ellipse">
            <a:avLst/>
          </a:prstGeom>
          <a:solidFill>
            <a:srgbClr val="1BA39C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461772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371600" y="4599432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给出建议 + 预填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71600" y="4946904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升级 / 补证 / 放行，并预填复核表单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680960" y="1874520"/>
            <a:ext cx="3959352" cy="3611880"/>
          </a:xfrm>
          <a:prstGeom prst="roundRect">
            <a:avLst>
              <a:gd name="adj" fmla="val 3544"/>
            </a:avLst>
          </a:prstGeom>
          <a:solidFill>
            <a:srgbClr val="102C3A"/>
          </a:solidFill>
          <a:ln/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2194560"/>
            <a:ext cx="548640" cy="548640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8686800" y="22402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为什么有用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8001000" y="2926080"/>
            <a:ext cx="33832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7B7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效率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DEB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每件调查从 1 小时 → 几分钟，法务能审的量级大幅提升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7B7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DEB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每次调查都产出标准化、带证据链的记录，反哺系统学习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594360" y="56692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注：人始终做最终判断，AI 只负责取证与建议。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AML 付款风险识别系统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 ② · 自我进化（Hermes Agent）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系统会自己「发现」新风险信号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过去：风险信号全靠法务凭经验预先定义。现在：Agent 从积累的案例中主动提出新假设。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4FAFB"/>
          </a:solidFill>
          <a:ln w="19050">
            <a:solidFill>
              <a:srgbClr val="1BA39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63040" y="2487168"/>
            <a:ext cx="640080" cy="64008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1056" y="2615184"/>
            <a:ext cx="384048" cy="3840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2004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发现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658368" y="3566160"/>
            <a:ext cx="22494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从已确认欺诈案例</a:t>
            </a:r>
            <a:endParaRPr lang="en-US" sz="108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学出反复出现的新模式</a:t>
            </a:r>
            <a:endParaRPr lang="en-US" sz="108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096" y="3063240"/>
            <a:ext cx="292608" cy="29260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337560" y="22860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4FAFB"/>
          </a:solidFill>
          <a:ln w="19050">
            <a:solidFill>
              <a:srgbClr val="C9861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251960" y="2487168"/>
            <a:ext cx="640080" cy="640080"/>
          </a:xfrm>
          <a:prstGeom prst="ellipse">
            <a:avLst/>
          </a:prstGeom>
          <a:solidFill>
            <a:srgbClr val="C9861A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9976" y="2615184"/>
            <a:ext cx="384048" cy="38404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29000" y="32004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进入候选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3447288" y="3566160"/>
            <a:ext cx="22494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标记「待验证」</a:t>
            </a:r>
            <a:endParaRPr lang="en-US" sz="108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先观察、不直接告警</a:t>
            </a:r>
            <a:endParaRPr lang="en-US" sz="108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3016" y="3063240"/>
            <a:ext cx="292608" cy="29260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126480" y="22860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4FAFB"/>
          </a:solidFill>
          <a:ln w="19050">
            <a:solidFill>
              <a:srgbClr val="5D8AA8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7040880" y="2487168"/>
            <a:ext cx="640080" cy="640080"/>
          </a:xfrm>
          <a:prstGeom prst="ellipse">
            <a:avLst/>
          </a:prstGeom>
          <a:solidFill>
            <a:srgbClr val="5D8AA8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8896" y="2615184"/>
            <a:ext cx="384048" cy="384048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6217920" y="32004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统计校准</a:t>
            </a:r>
            <a:endParaRPr lang="en-US" sz="1450" dirty="0"/>
          </a:p>
        </p:txBody>
      </p:sp>
      <p:sp>
        <p:nvSpPr>
          <p:cNvPr id="21" name="Text 14"/>
          <p:cNvSpPr/>
          <p:nvPr/>
        </p:nvSpPr>
        <p:spPr>
          <a:xfrm>
            <a:off x="6236208" y="3566160"/>
            <a:ext cx="22494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用真实命中率验证</a:t>
            </a:r>
            <a:endParaRPr lang="en-US" sz="108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（足够样本 + 达标）</a:t>
            </a:r>
            <a:endParaRPr lang="en-US" sz="108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1936" y="3063240"/>
            <a:ext cx="292608" cy="292608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8915400" y="22860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4FAFB"/>
          </a:solidFill>
          <a:ln w="19050">
            <a:solidFill>
              <a:srgbClr val="22875A"/>
            </a:solidFill>
            <a:prstDash val="solid"/>
          </a:ln>
        </p:spPr>
      </p:sp>
      <p:sp>
        <p:nvSpPr>
          <p:cNvPr id="24" name="Shape 16"/>
          <p:cNvSpPr/>
          <p:nvPr/>
        </p:nvSpPr>
        <p:spPr>
          <a:xfrm>
            <a:off x="9829800" y="2487168"/>
            <a:ext cx="640080" cy="640080"/>
          </a:xfrm>
          <a:prstGeom prst="ellipse">
            <a:avLst/>
          </a:prstGeom>
          <a:solidFill>
            <a:srgbClr val="22875A"/>
          </a:solidFill>
          <a:ln/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57816" y="2615184"/>
            <a:ext cx="384048" cy="384048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9006840" y="32004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人工审批</a:t>
            </a:r>
            <a:endParaRPr lang="en-US" sz="1450" dirty="0"/>
          </a:p>
        </p:txBody>
      </p:sp>
      <p:sp>
        <p:nvSpPr>
          <p:cNvPr id="27" name="Text 18"/>
          <p:cNvSpPr/>
          <p:nvPr/>
        </p:nvSpPr>
        <p:spPr>
          <a:xfrm>
            <a:off x="9025128" y="3566160"/>
            <a:ext cx="22494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委员会签字</a:t>
            </a:r>
            <a:endParaRPr lang="en-US" sz="108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才正式生效</a:t>
            </a:r>
            <a:endParaRPr lang="en-US" sz="1080" dirty="0"/>
          </a:p>
        </p:txBody>
      </p:sp>
      <p:sp>
        <p:nvSpPr>
          <p:cNvPr id="28" name="Shape 19"/>
          <p:cNvSpPr/>
          <p:nvPr/>
        </p:nvSpPr>
        <p:spPr>
          <a:xfrm>
            <a:off x="548640" y="4526280"/>
            <a:ext cx="11091672" cy="1188720"/>
          </a:xfrm>
          <a:prstGeom prst="roundRect">
            <a:avLst>
              <a:gd name="adj" fmla="val 9231"/>
            </a:avLst>
          </a:prstGeom>
          <a:solidFill>
            <a:srgbClr val="FFF6E8"/>
          </a:solidFill>
          <a:ln w="15240">
            <a:solidFill>
              <a:srgbClr val="F0D8A8"/>
            </a:solidFill>
            <a:prstDash val="solid"/>
          </a:ln>
        </p:spPr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680" y="4864608"/>
            <a:ext cx="457200" cy="457200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1508760" y="4617720"/>
            <a:ext cx="9875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C986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合规底线：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自我进化只能「发现假设」，绝不能黑盒改告警等级。任何影响分级的变更，都必须经过可审计的统计校准 + 人工审批。</a:t>
            </a:r>
            <a:endParaRPr lang="en-US" sz="1350" dirty="0"/>
          </a:p>
        </p:txBody>
      </p:sp>
      <p:sp>
        <p:nvSpPr>
          <p:cNvPr id="31" name="Text 21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000" dirty="0"/>
          </a:p>
        </p:txBody>
      </p:sp>
      <p:sp>
        <p:nvSpPr>
          <p:cNvPr id="32" name="Text 22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AML 付款风险识别系统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 ③ · 信号台账与每月校准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每个信号都要用「真实战绩」说话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不靠拍脑袋决定一个规则好不好用，而是看它命中后到底有多少真的是洗钱。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6858000" cy="822960"/>
          </a:xfrm>
          <a:prstGeom prst="roundRect">
            <a:avLst>
              <a:gd name="adj" fmla="val 11111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295144"/>
            <a:ext cx="1463040" cy="530352"/>
          </a:xfrm>
          <a:prstGeom prst="rect">
            <a:avLst>
              <a:gd name="adj" fmla="val 13793"/>
            </a:avLst>
          </a:prstGeom>
          <a:solidFill>
            <a:srgbClr val="228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已验证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331720" y="2148840"/>
            <a:ext cx="4983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样本足够 + 命中率达标  → 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正式告警触发器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3108960"/>
            <a:ext cx="6858000" cy="822960"/>
          </a:xfrm>
          <a:prstGeom prst="roundRect">
            <a:avLst>
              <a:gd name="adj" fmla="val 11111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255264"/>
            <a:ext cx="1463040" cy="530352"/>
          </a:xfrm>
          <a:prstGeom prst="rect">
            <a:avLst>
              <a:gd name="adj" fmla="val 13793"/>
            </a:avLst>
          </a:prstGeom>
          <a:solidFill>
            <a:srgbClr val="5D8AA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待验证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331720" y="3108960"/>
            <a:ext cx="4983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样本还不够  → 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先观察，暂不下结论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4069080"/>
            <a:ext cx="6858000" cy="822960"/>
          </a:xfrm>
          <a:prstGeom prst="roundRect">
            <a:avLst>
              <a:gd name="adj" fmla="val 11111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4215384"/>
            <a:ext cx="1463040" cy="530352"/>
          </a:xfrm>
          <a:prstGeom prst="rect">
            <a:avLst>
              <a:gd name="adj" fmla="val 13793"/>
            </a:avLst>
          </a:prstGeom>
          <a:solidFill>
            <a:srgbClr val="D84B4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已降级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331720" y="4069080"/>
            <a:ext cx="4983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样本足够但命中率太低  → 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退为参考因子，不再单独告警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635240" y="2148840"/>
            <a:ext cx="4005072" cy="2880360"/>
          </a:xfrm>
          <a:prstGeom prst="roundRect">
            <a:avLst>
              <a:gd name="adj" fmla="val 4444"/>
            </a:avLst>
          </a:prstGeom>
          <a:solidFill>
            <a:srgbClr val="102C3A"/>
          </a:solidFill>
          <a:ln/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955280" y="237744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7B7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稳健的判断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955280" y="2880360"/>
            <a:ext cx="3429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看「保守估计」而非表面数字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DDEB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样本少时不轻易下结论 —— 命中 1/4（25%）可能只是运气，真实可低至 5%。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降级 ≠ 删除，且可逆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DDEB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信号继续积累战绩，达标后可重新升级。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8640" y="52120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每月校准一次，所有变更附数据与置信区间，供委员会审批。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AML 付款风险识别系统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对法务团队意味着什么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更少的噪声，更强的底气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440680" cy="1691640"/>
          </a:xfrm>
          <a:prstGeom prst="roundRect">
            <a:avLst>
              <a:gd name="adj" fmla="val 6486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194560"/>
            <a:ext cx="777240" cy="77724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37744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2167128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一份排好序的清单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1801368" y="2651760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每天打开就知道先看哪几笔、多急 —— 不再大海捞针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72200" y="1874520"/>
            <a:ext cx="5440680" cy="1691640"/>
          </a:xfrm>
          <a:prstGeom prst="roundRect">
            <a:avLst>
              <a:gd name="adj" fmla="val 6486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46520" y="2194560"/>
            <a:ext cx="777240" cy="77724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37744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06640" y="2167128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每笔都附「为什么」</a:t>
            </a:r>
            <a:endParaRPr lang="en-US" sz="1650" dirty="0"/>
          </a:p>
        </p:txBody>
      </p:sp>
      <p:sp>
        <p:nvSpPr>
          <p:cNvPr id="13" name="Text 9"/>
          <p:cNvSpPr/>
          <p:nvPr/>
        </p:nvSpPr>
        <p:spPr>
          <a:xfrm>
            <a:off x="7424928" y="2651760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命中了哪条规则、AI 取到什么证据，一目了然，便于解释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3749040"/>
            <a:ext cx="5440680" cy="1691640"/>
          </a:xfrm>
          <a:prstGeom prst="roundRect">
            <a:avLst>
              <a:gd name="adj" fmla="val 6486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2960" y="4069080"/>
            <a:ext cx="777240" cy="77724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25196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783080" y="4041648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可解释 · 可审计</a:t>
            </a:r>
            <a:endParaRPr lang="en-US" sz="1650" dirty="0"/>
          </a:p>
        </p:txBody>
      </p:sp>
      <p:sp>
        <p:nvSpPr>
          <p:cNvPr id="18" name="Text 13"/>
          <p:cNvSpPr/>
          <p:nvPr/>
        </p:nvSpPr>
        <p:spPr>
          <a:xfrm>
            <a:off x="1801368" y="4526280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分级依据明确、所有变更留痕，经得起监管追问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172200" y="3749040"/>
            <a:ext cx="5440680" cy="1691640"/>
          </a:xfrm>
          <a:prstGeom prst="roundRect">
            <a:avLst>
              <a:gd name="adj" fmla="val 6486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46520" y="4069080"/>
            <a:ext cx="777240" cy="77724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4251960"/>
            <a:ext cx="411480" cy="41148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406640" y="4041648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越用越准</a:t>
            </a:r>
            <a:endParaRPr lang="en-US" sz="1650" dirty="0"/>
          </a:p>
        </p:txBody>
      </p:sp>
      <p:sp>
        <p:nvSpPr>
          <p:cNvPr id="23" name="Text 17"/>
          <p:cNvSpPr/>
          <p:nvPr/>
        </p:nvSpPr>
        <p:spPr>
          <a:xfrm>
            <a:off x="7424928" y="4526280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你的每次复核都在训练系统，把更可疑的顶到前面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AML 付款风险识别系统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2C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BA39C"/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BA39C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7B7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一句话总结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0515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把高价值告警顶上来，让系统越用越准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251460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DDEB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用分级告警替代整体评分（强信号不再被稀释），双入口覆盖单笔与跨笔手法，AI 调查提效，自我进化发现新风险 —— 而所有分级变更都在「统计校准 + 人工审批」的可审计闸门内。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4160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7B7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后续对接（与生产数据打通）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36008"/>
            <a:ext cx="292608" cy="29260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60120" y="457200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B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接入真实数据源：企查查 / 天眼查 / Dow Jones</a:t>
            </a:r>
            <a:endParaRPr lang="en-US" sz="12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4636008"/>
            <a:ext cx="292608" cy="29260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583680" y="457200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B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 Hermes Agent 框架，开启真实自学习</a:t>
            </a:r>
            <a:endParaRPr lang="en-US" sz="125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294376"/>
            <a:ext cx="292608" cy="29260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0120" y="5230368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B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对接付款系统（实时数据 + 暂停付款）</a:t>
            </a:r>
            <a:endParaRPr lang="en-US" sz="125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5294376"/>
            <a:ext cx="292608" cy="29260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583680" y="5230368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B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把检测规则接到真实校验与时序数据</a:t>
            </a:r>
            <a:endParaRPr lang="en-US" sz="1250" dirty="0"/>
          </a:p>
        </p:txBody>
      </p:sp>
      <p:sp>
        <p:nvSpPr>
          <p:cNvPr id="16" name="Text 10"/>
          <p:cNvSpPr/>
          <p:nvPr/>
        </p:nvSpPr>
        <p:spPr>
          <a:xfrm>
            <a:off x="548640" y="63550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92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原型演示 · 公司付款数据为合成数据，外部数据源 / Hermes 框架 / 付款冻结为待对接项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AML 付款风险识别系统</dc:title>
  <dc:subject>PptxGenJS Presentation</dc:subject>
  <dc:creator>AML Risk System</dc:creator>
  <cp:lastModifiedBy>AML Risk System</cp:lastModifiedBy>
  <cp:revision>1</cp:revision>
  <dcterms:created xsi:type="dcterms:W3CDTF">2026-06-02T10:29:58Z</dcterms:created>
  <dcterms:modified xsi:type="dcterms:W3CDTF">2026-06-02T10:29:58Z</dcterms:modified>
</cp:coreProperties>
</file>